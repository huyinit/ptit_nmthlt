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Lst>
  <p:sldSz cy="6858000" cx="12192000"/>
  <p:notesSz cx="6858000" cy="9144000"/>
  <p:embeddedFontLst>
    <p:embeddedFont>
      <p:font typeface="Inter"/>
      <p:regular r:id="rId17"/>
      <p:bold r:id="rId18"/>
      <p:italic r:id="rId19"/>
      <p:boldItalic r:id="rId20"/>
    </p:embeddedFont>
    <p:embeddedFont>
      <p:font typeface="Poppins SemiBold"/>
      <p:regular r:id="rId21"/>
      <p:bold r:id="rId22"/>
      <p:italic r:id="rId23"/>
      <p:boldItalic r:id="rId24"/>
    </p:embeddedFont>
    <p:embeddedFont>
      <p:font typeface="Inter Medium"/>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29" roundtripDataSignature="AMtx7mht8pUQNsQNWEW85AmCrW3B68VtU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E5D20DD-A944-41E8-9F38-B803951EE7C3}">
  <a:tblStyle styleId="{CE5D20DD-A944-41E8-9F38-B803951EE7C3}"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Inter-boldItalic.fntdata"/><Relationship Id="rId22" Type="http://schemas.openxmlformats.org/officeDocument/2006/relationships/font" Target="fonts/PoppinsSemiBold-bold.fntdata"/><Relationship Id="rId21" Type="http://schemas.openxmlformats.org/officeDocument/2006/relationships/font" Target="fonts/PoppinsSemiBold-regular.fntdata"/><Relationship Id="rId24" Type="http://schemas.openxmlformats.org/officeDocument/2006/relationships/font" Target="fonts/PoppinsSemiBold-boldItalic.fntdata"/><Relationship Id="rId23" Type="http://schemas.openxmlformats.org/officeDocument/2006/relationships/font" Target="fonts/PoppinsSemi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InterMedium-bold.fntdata"/><Relationship Id="rId25" Type="http://schemas.openxmlformats.org/officeDocument/2006/relationships/font" Target="fonts/InterMedium-regular.fntdata"/><Relationship Id="rId28" Type="http://schemas.openxmlformats.org/officeDocument/2006/relationships/font" Target="fonts/InterMedium-boldItalic.fntdata"/><Relationship Id="rId27" Type="http://schemas.openxmlformats.org/officeDocument/2006/relationships/font" Target="fonts/InterMedium-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customschemas.google.com/relationships/presentationmetadata" Target="metadata"/><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font" Target="fonts/Inter-regular.fntdata"/><Relationship Id="rId16" Type="http://schemas.openxmlformats.org/officeDocument/2006/relationships/slide" Target="slides/slide10.xml"/><Relationship Id="rId19" Type="http://schemas.openxmlformats.org/officeDocument/2006/relationships/font" Target="fonts/Inter-italic.fntdata"/><Relationship Id="rId18" Type="http://schemas.openxmlformats.org/officeDocument/2006/relationships/font" Target="fonts/Inter-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fa4bf73de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g3fa4bf73dea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fa4bf73dea_0_2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g3fa4bf73dea_0_27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fa4bf73dea_0_2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g3fa4bf73dea_0_29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fa4bf73dea_0_4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g3fa4bf73dea_0_48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2"/>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2"/>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4"/>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4"/>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5"/>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15"/>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16"/>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16"/>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16"/>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16"/>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8"/>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18"/>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18"/>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9"/>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9"/>
          <p:cNvSpPr/>
          <p:nvPr>
            <p:ph idx="2" type="pic"/>
          </p:nvPr>
        </p:nvSpPr>
        <p:spPr>
          <a:xfrm>
            <a:off x="1792288" y="612775"/>
            <a:ext cx="5486400" cy="4114800"/>
          </a:xfrm>
          <a:prstGeom prst="rect">
            <a:avLst/>
          </a:prstGeom>
          <a:noFill/>
          <a:ln>
            <a:noFill/>
          </a:ln>
        </p:spPr>
      </p:sp>
      <p:sp>
        <p:nvSpPr>
          <p:cNvPr id="64" name="Google Shape;64;p19"/>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0"/>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1"/>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1"/>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9.png"/><Relationship Id="rId4" Type="http://schemas.openxmlformats.org/officeDocument/2006/relationships/image" Target="../media/image6.png"/><Relationship Id="rId5" Type="http://schemas.openxmlformats.org/officeDocument/2006/relationships/image" Target="../media/image20.png"/><Relationship Id="rId6" Type="http://schemas.openxmlformats.org/officeDocument/2006/relationships/image" Target="../media/image12.png"/><Relationship Id="rId7" Type="http://schemas.openxmlformats.org/officeDocument/2006/relationships/image" Target="../media/image17.png"/><Relationship Id="rId8" Type="http://schemas.openxmlformats.org/officeDocument/2006/relationships/image" Target="../media/image2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4.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8.png"/><Relationship Id="rId5" Type="http://schemas.openxmlformats.org/officeDocument/2006/relationships/image" Target="../media/image1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3.png"/><Relationship Id="rId4" Type="http://schemas.openxmlformats.org/officeDocument/2006/relationships/image" Target="../media/image9.png"/><Relationship Id="rId5" Type="http://schemas.openxmlformats.org/officeDocument/2006/relationships/image" Target="../media/image18.png"/><Relationship Id="rId6" Type="http://schemas.openxmlformats.org/officeDocument/2006/relationships/image" Target="../media/image10.png"/><Relationship Id="rId7" Type="http://schemas.openxmlformats.org/officeDocument/2006/relationships/image" Target="../media/image15.png"/><Relationship Id="rId8"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3" name="Shape 83"/>
        <p:cNvGrpSpPr/>
        <p:nvPr/>
      </p:nvGrpSpPr>
      <p:grpSpPr>
        <a:xfrm>
          <a:off x="0" y="0"/>
          <a:ext cx="0" cy="0"/>
          <a:chOff x="0" y="0"/>
          <a:chExt cx="0" cy="0"/>
        </a:xfrm>
      </p:grpSpPr>
      <p:sp>
        <p:nvSpPr>
          <p:cNvPr id="84" name="Google Shape;84;g3fa4bf73dea_0_0"/>
          <p:cNvSpPr txBox="1"/>
          <p:nvPr/>
        </p:nvSpPr>
        <p:spPr>
          <a:xfrm>
            <a:off x="1290399" y="2304157"/>
            <a:ext cx="9611100" cy="18285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i="0" lang="en-US" sz="5400" u="none" cap="none" strike="noStrike">
                <a:solidFill>
                  <a:srgbClr val="0F172A"/>
                </a:solidFill>
                <a:latin typeface="Inter"/>
                <a:ea typeface="Inter"/>
                <a:cs typeface="Inter"/>
                <a:sym typeface="Inter"/>
              </a:rPr>
              <a:t>Chương 1. </a:t>
            </a:r>
            <a:r>
              <a:rPr b="1" i="0" lang="en-US" sz="5400" u="none" cap="none" strike="noStrike">
                <a:solidFill>
                  <a:srgbClr val="2563EB"/>
                </a:solidFill>
                <a:latin typeface="Inter"/>
                <a:ea typeface="Inter"/>
                <a:cs typeface="Inter"/>
                <a:sym typeface="Inter"/>
              </a:rPr>
              <a:t>Nền tảng Tin học</a:t>
            </a:r>
            <a:br>
              <a:rPr b="0" i="0" lang="en-US" sz="1800" u="none" cap="none" strike="noStrike">
                <a:solidFill>
                  <a:schemeClr val="dk1"/>
                </a:solidFill>
                <a:latin typeface="Calibri"/>
                <a:ea typeface="Calibri"/>
                <a:cs typeface="Calibri"/>
                <a:sym typeface="Calibri"/>
              </a:rPr>
            </a:br>
            <a:r>
              <a:rPr b="1" i="0" lang="en-US" sz="5400" u="none" cap="none" strike="noStrike">
                <a:solidFill>
                  <a:srgbClr val="0F172A"/>
                </a:solidFill>
                <a:latin typeface="Inter"/>
                <a:ea typeface="Inter"/>
                <a:cs typeface="Inter"/>
                <a:sym typeface="Inter"/>
              </a:rPr>
              <a:t> và Hệ thống Máy tính</a:t>
            </a:r>
            <a:endParaRPr/>
          </a:p>
        </p:txBody>
      </p:sp>
      <p:sp>
        <p:nvSpPr>
          <p:cNvPr id="85" name="Google Shape;85;g3fa4bf73dea_0_0"/>
          <p:cNvSpPr txBox="1"/>
          <p:nvPr/>
        </p:nvSpPr>
        <p:spPr>
          <a:xfrm>
            <a:off x="2040975" y="4188025"/>
            <a:ext cx="8253900" cy="277200"/>
          </a:xfrm>
          <a:prstGeom prst="rect">
            <a:avLst/>
          </a:prstGeom>
          <a:noFill/>
          <a:ln>
            <a:noFill/>
          </a:ln>
        </p:spPr>
        <p:txBody>
          <a:bodyPr anchorCtr="0" anchor="t" bIns="0" lIns="0" spcFirstLastPara="1" rIns="0" wrap="square" tIns="0">
            <a:spAutoFit/>
          </a:bodyPr>
          <a:lstStyle/>
          <a:p>
            <a:pPr indent="0" lvl="0" marL="0" marR="0" rtl="0" algn="ctr">
              <a:lnSpc>
                <a:spcPct val="159944"/>
              </a:lnSpc>
              <a:spcBef>
                <a:spcPts val="0"/>
              </a:spcBef>
              <a:spcAft>
                <a:spcPts val="0"/>
              </a:spcAft>
              <a:buNone/>
            </a:pPr>
            <a:r>
              <a:rPr b="0" i="0" lang="en-US" sz="1800" u="none" cap="none" strike="noStrike">
                <a:solidFill>
                  <a:srgbClr val="0D9488"/>
                </a:solidFill>
                <a:latin typeface="Inter Medium"/>
                <a:ea typeface="Inter Medium"/>
                <a:cs typeface="Inter Medium"/>
                <a:sym typeface="Inter Medium"/>
              </a:rPr>
              <a:t>Khái niệm, Kiến trúc, Lưu trữ và Môi trường phát triển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9" name="Shape 89"/>
        <p:cNvGrpSpPr/>
        <p:nvPr/>
      </p:nvGrpSpPr>
      <p:grpSpPr>
        <a:xfrm>
          <a:off x="0" y="0"/>
          <a:ext cx="0" cy="0"/>
          <a:chOff x="0" y="0"/>
          <a:chExt cx="0" cy="0"/>
        </a:xfrm>
      </p:grpSpPr>
      <p:pic>
        <p:nvPicPr>
          <p:cNvPr descr="image.png" id="90" name="Google Shape;90;p2"/>
          <p:cNvPicPr preferRelativeResize="0"/>
          <p:nvPr/>
        </p:nvPicPr>
        <p:blipFill rotWithShape="1">
          <a:blip r:embed="rId3">
            <a:alphaModFix/>
          </a:blip>
          <a:srcRect b="0" l="0" r="0" t="0"/>
          <a:stretch/>
        </p:blipFill>
        <p:spPr>
          <a:xfrm>
            <a:off x="571500" y="2033587"/>
            <a:ext cx="3492549" cy="3743325"/>
          </a:xfrm>
          <a:prstGeom prst="rect">
            <a:avLst/>
          </a:prstGeom>
          <a:noFill/>
          <a:ln>
            <a:noFill/>
          </a:ln>
        </p:spPr>
      </p:pic>
      <p:pic>
        <p:nvPicPr>
          <p:cNvPr descr="image.png" id="91" name="Google Shape;91;p2"/>
          <p:cNvPicPr preferRelativeResize="0"/>
          <p:nvPr/>
        </p:nvPicPr>
        <p:blipFill rotWithShape="1">
          <a:blip r:embed="rId4">
            <a:alphaModFix/>
          </a:blip>
          <a:srcRect b="0" l="0" r="0" t="0"/>
          <a:stretch/>
        </p:blipFill>
        <p:spPr>
          <a:xfrm>
            <a:off x="4349799" y="2033587"/>
            <a:ext cx="3492549" cy="3743325"/>
          </a:xfrm>
          <a:prstGeom prst="rect">
            <a:avLst/>
          </a:prstGeom>
          <a:noFill/>
          <a:ln>
            <a:noFill/>
          </a:ln>
        </p:spPr>
      </p:pic>
      <p:pic>
        <p:nvPicPr>
          <p:cNvPr descr="image.png" id="92" name="Google Shape;92;p2"/>
          <p:cNvPicPr preferRelativeResize="0"/>
          <p:nvPr/>
        </p:nvPicPr>
        <p:blipFill rotWithShape="1">
          <a:blip r:embed="rId5">
            <a:alphaModFix/>
          </a:blip>
          <a:srcRect b="0" l="0" r="0" t="0"/>
          <a:stretch/>
        </p:blipFill>
        <p:spPr>
          <a:xfrm>
            <a:off x="8128099" y="2033587"/>
            <a:ext cx="3492549" cy="3743325"/>
          </a:xfrm>
          <a:prstGeom prst="rect">
            <a:avLst/>
          </a:prstGeom>
          <a:noFill/>
          <a:ln>
            <a:noFill/>
          </a:ln>
        </p:spPr>
      </p:pic>
      <p:sp>
        <p:nvSpPr>
          <p:cNvPr id="93" name="Google Shape;93;p2"/>
          <p:cNvSpPr txBox="1"/>
          <p:nvPr/>
        </p:nvSpPr>
        <p:spPr>
          <a:xfrm>
            <a:off x="1351169" y="3186112"/>
            <a:ext cx="1933210" cy="3714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950" u="none" cap="none" strike="noStrike">
                <a:solidFill>
                  <a:srgbClr val="1E293B"/>
                </a:solidFill>
                <a:latin typeface="Poppins SemiBold"/>
                <a:ea typeface="Poppins SemiBold"/>
                <a:cs typeface="Poppins SemiBold"/>
                <a:sym typeface="Poppins SemiBold"/>
              </a:rPr>
              <a:t>Dữ Liệu (Data)</a:t>
            </a:r>
            <a:endParaRPr/>
          </a:p>
        </p:txBody>
      </p:sp>
      <p:sp>
        <p:nvSpPr>
          <p:cNvPr id="94" name="Google Shape;94;p2"/>
          <p:cNvSpPr txBox="1"/>
          <p:nvPr/>
        </p:nvSpPr>
        <p:spPr>
          <a:xfrm>
            <a:off x="819150" y="3700462"/>
            <a:ext cx="2997249" cy="12192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500" u="none" cap="none" strike="noStrike">
                <a:solidFill>
                  <a:srgbClr val="334155"/>
                </a:solidFill>
                <a:latin typeface="Inter"/>
                <a:ea typeface="Inter"/>
                <a:cs typeface="Inter"/>
                <a:sym typeface="Inter"/>
              </a:rPr>
              <a:t>Các sự kiện, con số, ký hiệu thô mang tính khách quan nhưng chưa được gán ngữ cảnh, chưa mang ý nghĩa trực tiếp.</a:t>
            </a:r>
            <a:endParaRPr/>
          </a:p>
        </p:txBody>
      </p:sp>
      <p:sp>
        <p:nvSpPr>
          <p:cNvPr id="95" name="Google Shape;95;p2"/>
          <p:cNvSpPr txBox="1"/>
          <p:nvPr/>
        </p:nvSpPr>
        <p:spPr>
          <a:xfrm>
            <a:off x="4522518" y="3186112"/>
            <a:ext cx="3147112" cy="7429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950" u="none" cap="none" strike="noStrike">
                <a:solidFill>
                  <a:srgbClr val="1E293B"/>
                </a:solidFill>
                <a:latin typeface="Poppins SemiBold"/>
                <a:ea typeface="Poppins SemiBold"/>
                <a:cs typeface="Poppins SemiBold"/>
                <a:sym typeface="Poppins SemiBold"/>
              </a:rPr>
              <a:t>Thông Tin (Information)</a:t>
            </a:r>
            <a:endParaRPr/>
          </a:p>
        </p:txBody>
      </p:sp>
      <p:sp>
        <p:nvSpPr>
          <p:cNvPr id="96" name="Google Shape;96;p2"/>
          <p:cNvSpPr txBox="1"/>
          <p:nvPr/>
        </p:nvSpPr>
        <p:spPr>
          <a:xfrm>
            <a:off x="4597449" y="4071937"/>
            <a:ext cx="2997249" cy="12192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500" u="none" cap="none" strike="noStrike">
                <a:solidFill>
                  <a:srgbClr val="334155"/>
                </a:solidFill>
                <a:latin typeface="Inter"/>
                <a:ea typeface="Inter"/>
                <a:cs typeface="Inter"/>
                <a:sym typeface="Inter"/>
              </a:rPr>
              <a:t>Dữ liệu đã trải qua quá trình xử lý, phân tích và tổ chức. Được gán ngữ cảnh để mang lại giá trị nhận thức.</a:t>
            </a:r>
            <a:endParaRPr/>
          </a:p>
        </p:txBody>
      </p:sp>
      <p:sp>
        <p:nvSpPr>
          <p:cNvPr id="97" name="Google Shape;97;p2"/>
          <p:cNvSpPr txBox="1"/>
          <p:nvPr/>
        </p:nvSpPr>
        <p:spPr>
          <a:xfrm>
            <a:off x="8454743" y="3186112"/>
            <a:ext cx="2839261" cy="3714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950" u="none" cap="none" strike="noStrike">
                <a:solidFill>
                  <a:srgbClr val="1E293B"/>
                </a:solidFill>
                <a:latin typeface="Poppins SemiBold"/>
                <a:ea typeface="Poppins SemiBold"/>
                <a:cs typeface="Poppins SemiBold"/>
                <a:sym typeface="Poppins SemiBold"/>
              </a:rPr>
              <a:t>Tin Học (Informatics)</a:t>
            </a:r>
            <a:endParaRPr/>
          </a:p>
        </p:txBody>
      </p:sp>
      <p:sp>
        <p:nvSpPr>
          <p:cNvPr id="98" name="Google Shape;98;p2"/>
          <p:cNvSpPr txBox="1"/>
          <p:nvPr/>
        </p:nvSpPr>
        <p:spPr>
          <a:xfrm>
            <a:off x="8375749" y="3700462"/>
            <a:ext cx="2997249" cy="12192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500" u="none" cap="none" strike="noStrike">
                <a:solidFill>
                  <a:srgbClr val="334155"/>
                </a:solidFill>
                <a:latin typeface="Inter"/>
                <a:ea typeface="Inter"/>
                <a:cs typeface="Inter"/>
                <a:sym typeface="Inter"/>
              </a:rPr>
              <a:t>Ngành khoa học tự động hóa việc thu thập, lưu trữ và xử lý thông tin dựa trên nền tảng hệ thống máy tính.</a:t>
            </a:r>
            <a:endParaRPr/>
          </a:p>
        </p:txBody>
      </p:sp>
      <p:pic>
        <p:nvPicPr>
          <p:cNvPr descr="image.png" id="99" name="Google Shape;99;p2"/>
          <p:cNvPicPr preferRelativeResize="0"/>
          <p:nvPr/>
        </p:nvPicPr>
        <p:blipFill rotWithShape="1">
          <a:blip r:embed="rId6">
            <a:alphaModFix/>
          </a:blip>
          <a:srcRect b="0" l="0" r="0" t="0"/>
          <a:stretch/>
        </p:blipFill>
        <p:spPr>
          <a:xfrm>
            <a:off x="2093862" y="2424112"/>
            <a:ext cx="447675" cy="514350"/>
          </a:xfrm>
          <a:prstGeom prst="rect">
            <a:avLst/>
          </a:prstGeom>
          <a:noFill/>
          <a:ln>
            <a:noFill/>
          </a:ln>
        </p:spPr>
      </p:pic>
      <p:pic>
        <p:nvPicPr>
          <p:cNvPr descr="image.png" id="100" name="Google Shape;100;p2"/>
          <p:cNvPicPr preferRelativeResize="0"/>
          <p:nvPr/>
        </p:nvPicPr>
        <p:blipFill rotWithShape="1">
          <a:blip r:embed="rId7">
            <a:alphaModFix/>
          </a:blip>
          <a:srcRect b="0" l="0" r="0" t="0"/>
          <a:stretch/>
        </p:blipFill>
        <p:spPr>
          <a:xfrm>
            <a:off x="5805487" y="2424112"/>
            <a:ext cx="581025" cy="514350"/>
          </a:xfrm>
          <a:prstGeom prst="rect">
            <a:avLst/>
          </a:prstGeom>
          <a:noFill/>
          <a:ln>
            <a:noFill/>
          </a:ln>
        </p:spPr>
      </p:pic>
      <p:pic>
        <p:nvPicPr>
          <p:cNvPr descr="image.png" id="101" name="Google Shape;101;p2"/>
          <p:cNvPicPr preferRelativeResize="0"/>
          <p:nvPr/>
        </p:nvPicPr>
        <p:blipFill rotWithShape="1">
          <a:blip r:embed="rId8">
            <a:alphaModFix/>
          </a:blip>
          <a:srcRect b="0" l="0" r="0" t="0"/>
          <a:stretch/>
        </p:blipFill>
        <p:spPr>
          <a:xfrm>
            <a:off x="9550449" y="2424112"/>
            <a:ext cx="647700" cy="514350"/>
          </a:xfrm>
          <a:prstGeom prst="rect">
            <a:avLst/>
          </a:prstGeom>
          <a:noFill/>
          <a:ln>
            <a:noFill/>
          </a:ln>
        </p:spPr>
      </p:pic>
      <p:sp>
        <p:nvSpPr>
          <p:cNvPr id="102" name="Google Shape;102;p2"/>
          <p:cNvSpPr txBox="1"/>
          <p:nvPr/>
        </p:nvSpPr>
        <p:spPr>
          <a:xfrm>
            <a:off x="762000" y="571500"/>
            <a:ext cx="11401500" cy="4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0F172A"/>
                </a:solidFill>
                <a:latin typeface="Century"/>
                <a:ea typeface="Century"/>
                <a:cs typeface="Century"/>
                <a:sym typeface="Century"/>
              </a:rPr>
              <a:t>1.1. Khái niệm tin học, dữ liệu và thông tin</a:t>
            </a:r>
            <a:endParaRPr>
              <a:latin typeface="Century"/>
              <a:ea typeface="Century"/>
              <a:cs typeface="Century"/>
              <a:sym typeface="Century"/>
            </a:endParaRPr>
          </a:p>
        </p:txBody>
      </p:sp>
      <p:sp>
        <p:nvSpPr>
          <p:cNvPr id="103" name="Google Shape;103;p2"/>
          <p:cNvSpPr/>
          <p:nvPr/>
        </p:nvSpPr>
        <p:spPr>
          <a:xfrm>
            <a:off x="571500" y="571500"/>
            <a:ext cx="57150" cy="571500"/>
          </a:xfrm>
          <a:prstGeom prst="rect">
            <a:avLst/>
          </a:prstGeom>
          <a:solidFill>
            <a:srgbClr val="2563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7" name="Shape 107"/>
        <p:cNvGrpSpPr/>
        <p:nvPr/>
      </p:nvGrpSpPr>
      <p:grpSpPr>
        <a:xfrm>
          <a:off x="0" y="0"/>
          <a:ext cx="0" cy="0"/>
          <a:chOff x="0" y="0"/>
          <a:chExt cx="0" cy="0"/>
        </a:xfrm>
      </p:grpSpPr>
      <p:pic>
        <p:nvPicPr>
          <p:cNvPr descr="image.png" id="108" name="Google Shape;108;p3"/>
          <p:cNvPicPr preferRelativeResize="0"/>
          <p:nvPr/>
        </p:nvPicPr>
        <p:blipFill rotWithShape="1">
          <a:blip r:embed="rId3">
            <a:alphaModFix/>
          </a:blip>
          <a:srcRect b="0" l="0" r="0" t="0"/>
          <a:stretch/>
        </p:blipFill>
        <p:spPr>
          <a:xfrm>
            <a:off x="6334125" y="1905000"/>
            <a:ext cx="5286375" cy="4000500"/>
          </a:xfrm>
          <a:prstGeom prst="rect">
            <a:avLst/>
          </a:prstGeom>
          <a:noFill/>
          <a:ln>
            <a:noFill/>
          </a:ln>
        </p:spPr>
      </p:pic>
      <p:sp>
        <p:nvSpPr>
          <p:cNvPr id="109" name="Google Shape;109;p3"/>
          <p:cNvSpPr txBox="1"/>
          <p:nvPr/>
        </p:nvSpPr>
        <p:spPr>
          <a:xfrm>
            <a:off x="571500" y="1905000"/>
            <a:ext cx="5286375"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34155"/>
                </a:solidFill>
                <a:latin typeface="Inter"/>
                <a:ea typeface="Inter"/>
                <a:cs typeface="Inter"/>
                <a:sym typeface="Inter"/>
              </a:rPr>
              <a:t>Nền tảng cốt lõi của máy tính hiện đại hoạt động dựa trên </a:t>
            </a:r>
            <a:r>
              <a:rPr b="1" i="0" lang="en-US" sz="1500" u="none" cap="none" strike="noStrike">
                <a:solidFill>
                  <a:srgbClr val="334155"/>
                </a:solidFill>
                <a:latin typeface="Inter"/>
                <a:ea typeface="Inter"/>
                <a:cs typeface="Inter"/>
                <a:sym typeface="Inter"/>
              </a:rPr>
              <a:t>Kiến trúc Von Neumann</a:t>
            </a:r>
            <a:r>
              <a:rPr b="0" i="0" lang="en-US" sz="1500" u="none" cap="none" strike="noStrike">
                <a:solidFill>
                  <a:srgbClr val="334155"/>
                </a:solidFill>
                <a:latin typeface="Inter"/>
                <a:ea typeface="Inter"/>
                <a:cs typeface="Inter"/>
                <a:sym typeface="Inter"/>
              </a:rPr>
              <a:t> với bộ xử lý trung tâm (CPU):</a:t>
            </a:r>
            <a:endParaRPr/>
          </a:p>
        </p:txBody>
      </p:sp>
      <p:sp>
        <p:nvSpPr>
          <p:cNvPr id="110" name="Google Shape;110;p3"/>
          <p:cNvSpPr txBox="1"/>
          <p:nvPr/>
        </p:nvSpPr>
        <p:spPr>
          <a:xfrm>
            <a:off x="704850" y="2657475"/>
            <a:ext cx="104775"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334155"/>
                </a:solidFill>
                <a:latin typeface="Inter"/>
                <a:ea typeface="Inter"/>
                <a:cs typeface="Inter"/>
                <a:sym typeface="Inter"/>
              </a:rPr>
              <a:t>•</a:t>
            </a:r>
            <a:endParaRPr/>
          </a:p>
        </p:txBody>
      </p:sp>
      <p:sp>
        <p:nvSpPr>
          <p:cNvPr id="111" name="Google Shape;111;p3"/>
          <p:cNvSpPr txBox="1"/>
          <p:nvPr/>
        </p:nvSpPr>
        <p:spPr>
          <a:xfrm>
            <a:off x="809625" y="2657475"/>
            <a:ext cx="5048250" cy="609600"/>
          </a:xfrm>
          <a:prstGeom prst="rect">
            <a:avLst/>
          </a:prstGeom>
          <a:noFill/>
          <a:ln>
            <a:noFill/>
          </a:ln>
        </p:spPr>
        <p:txBody>
          <a:bodyPr anchorCtr="0" anchor="t" bIns="0" lIns="104775"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334155"/>
                </a:solidFill>
                <a:latin typeface="Inter"/>
                <a:ea typeface="Inter"/>
                <a:cs typeface="Inter"/>
                <a:sym typeface="Inter"/>
              </a:rPr>
              <a:t>CPU:</a:t>
            </a:r>
            <a:r>
              <a:rPr b="0" i="0" lang="en-US" sz="1500" u="none" cap="none" strike="noStrike">
                <a:solidFill>
                  <a:srgbClr val="334155"/>
                </a:solidFill>
                <a:latin typeface="Inter"/>
                <a:ea typeface="Inter"/>
                <a:cs typeface="Inter"/>
                <a:sym typeface="Inter"/>
              </a:rPr>
              <a:t> Bộ vi xử lý trung tâm đóng vai trò cốt lõi trong việc điều phối toàn hệ thống.</a:t>
            </a:r>
            <a:endParaRPr/>
          </a:p>
        </p:txBody>
      </p:sp>
      <p:sp>
        <p:nvSpPr>
          <p:cNvPr id="112" name="Google Shape;112;p3"/>
          <p:cNvSpPr txBox="1"/>
          <p:nvPr/>
        </p:nvSpPr>
        <p:spPr>
          <a:xfrm>
            <a:off x="704850" y="3457575"/>
            <a:ext cx="104775"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334155"/>
                </a:solidFill>
                <a:latin typeface="Inter"/>
                <a:ea typeface="Inter"/>
                <a:cs typeface="Inter"/>
                <a:sym typeface="Inter"/>
              </a:rPr>
              <a:t>•</a:t>
            </a:r>
            <a:endParaRPr/>
          </a:p>
        </p:txBody>
      </p:sp>
      <p:sp>
        <p:nvSpPr>
          <p:cNvPr id="113" name="Google Shape;113;p3"/>
          <p:cNvSpPr txBox="1"/>
          <p:nvPr/>
        </p:nvSpPr>
        <p:spPr>
          <a:xfrm>
            <a:off x="809625" y="3457575"/>
            <a:ext cx="5048250" cy="609600"/>
          </a:xfrm>
          <a:prstGeom prst="rect">
            <a:avLst/>
          </a:prstGeom>
          <a:noFill/>
          <a:ln>
            <a:noFill/>
          </a:ln>
        </p:spPr>
        <p:txBody>
          <a:bodyPr anchorCtr="0" anchor="t" bIns="0" lIns="104775"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334155"/>
                </a:solidFill>
                <a:latin typeface="Inter"/>
                <a:ea typeface="Inter"/>
                <a:cs typeface="Inter"/>
                <a:sym typeface="Inter"/>
              </a:rPr>
              <a:t>ALU:</a:t>
            </a:r>
            <a:r>
              <a:rPr b="0" i="0" lang="en-US" sz="1500" u="none" cap="none" strike="noStrike">
                <a:solidFill>
                  <a:srgbClr val="334155"/>
                </a:solidFill>
                <a:latin typeface="Inter"/>
                <a:ea typeface="Inter"/>
                <a:cs typeface="Inter"/>
                <a:sym typeface="Inter"/>
              </a:rPr>
              <a:t> Khối thực hiện các phép toán số học và xử lý logic.</a:t>
            </a:r>
            <a:endParaRPr/>
          </a:p>
        </p:txBody>
      </p:sp>
      <p:sp>
        <p:nvSpPr>
          <p:cNvPr id="114" name="Google Shape;114;p3"/>
          <p:cNvSpPr txBox="1"/>
          <p:nvPr/>
        </p:nvSpPr>
        <p:spPr>
          <a:xfrm>
            <a:off x="704850" y="4257675"/>
            <a:ext cx="104775"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334155"/>
                </a:solidFill>
                <a:latin typeface="Inter"/>
                <a:ea typeface="Inter"/>
                <a:cs typeface="Inter"/>
                <a:sym typeface="Inter"/>
              </a:rPr>
              <a:t>•</a:t>
            </a:r>
            <a:endParaRPr/>
          </a:p>
        </p:txBody>
      </p:sp>
      <p:sp>
        <p:nvSpPr>
          <p:cNvPr id="115" name="Google Shape;115;p3"/>
          <p:cNvSpPr txBox="1"/>
          <p:nvPr/>
        </p:nvSpPr>
        <p:spPr>
          <a:xfrm>
            <a:off x="809625" y="4257675"/>
            <a:ext cx="5048250" cy="609600"/>
          </a:xfrm>
          <a:prstGeom prst="rect">
            <a:avLst/>
          </a:prstGeom>
          <a:noFill/>
          <a:ln>
            <a:noFill/>
          </a:ln>
        </p:spPr>
        <p:txBody>
          <a:bodyPr anchorCtr="0" anchor="t" bIns="0" lIns="104775"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334155"/>
                </a:solidFill>
                <a:latin typeface="Inter"/>
                <a:ea typeface="Inter"/>
                <a:cs typeface="Inter"/>
                <a:sym typeface="Inter"/>
              </a:rPr>
              <a:t>CU:</a:t>
            </a:r>
            <a:r>
              <a:rPr b="0" i="0" lang="en-US" sz="1500" u="none" cap="none" strike="noStrike">
                <a:solidFill>
                  <a:srgbClr val="334155"/>
                </a:solidFill>
                <a:latin typeface="Inter"/>
                <a:ea typeface="Inter"/>
                <a:cs typeface="Inter"/>
                <a:sym typeface="Inter"/>
              </a:rPr>
              <a:t> Khối điều khiển, giải mã lệnh và phát các tín hiệu điều phối.</a:t>
            </a:r>
            <a:endParaRPr/>
          </a:p>
        </p:txBody>
      </p:sp>
      <p:sp>
        <p:nvSpPr>
          <p:cNvPr id="116" name="Google Shape;116;p3"/>
          <p:cNvSpPr txBox="1"/>
          <p:nvPr/>
        </p:nvSpPr>
        <p:spPr>
          <a:xfrm>
            <a:off x="704850" y="5057775"/>
            <a:ext cx="104775"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334155"/>
                </a:solidFill>
                <a:latin typeface="Inter"/>
                <a:ea typeface="Inter"/>
                <a:cs typeface="Inter"/>
                <a:sym typeface="Inter"/>
              </a:rPr>
              <a:t>•</a:t>
            </a:r>
            <a:endParaRPr/>
          </a:p>
        </p:txBody>
      </p:sp>
      <p:sp>
        <p:nvSpPr>
          <p:cNvPr id="117" name="Google Shape;117;p3"/>
          <p:cNvSpPr txBox="1"/>
          <p:nvPr/>
        </p:nvSpPr>
        <p:spPr>
          <a:xfrm>
            <a:off x="809625" y="5057775"/>
            <a:ext cx="5048250" cy="609600"/>
          </a:xfrm>
          <a:prstGeom prst="rect">
            <a:avLst/>
          </a:prstGeom>
          <a:noFill/>
          <a:ln>
            <a:noFill/>
          </a:ln>
        </p:spPr>
        <p:txBody>
          <a:bodyPr anchorCtr="0" anchor="t" bIns="0" lIns="104775"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334155"/>
                </a:solidFill>
                <a:latin typeface="Inter"/>
                <a:ea typeface="Inter"/>
                <a:cs typeface="Inter"/>
                <a:sym typeface="Inter"/>
              </a:rPr>
              <a:t>Tập thanh ghi (Registers):</a:t>
            </a:r>
            <a:r>
              <a:rPr b="0" i="0" lang="en-US" sz="1500" u="none" cap="none" strike="noStrike">
                <a:solidFill>
                  <a:srgbClr val="334155"/>
                </a:solidFill>
                <a:latin typeface="Inter"/>
                <a:ea typeface="Inter"/>
                <a:cs typeface="Inter"/>
                <a:sym typeface="Inter"/>
              </a:rPr>
              <a:t> Bộ nhớ siêu tốc lưu trữ dữ liệu tạm thời ngay bên trong CPU.</a:t>
            </a:r>
            <a:endParaRPr/>
          </a:p>
        </p:txBody>
      </p:sp>
      <p:pic>
        <p:nvPicPr>
          <p:cNvPr descr="image.png" id="118" name="Google Shape;118;p3"/>
          <p:cNvPicPr preferRelativeResize="0"/>
          <p:nvPr/>
        </p:nvPicPr>
        <p:blipFill rotWithShape="1">
          <a:blip r:embed="rId4">
            <a:alphaModFix/>
          </a:blip>
          <a:srcRect b="0" l="0" r="0" t="0"/>
          <a:stretch/>
        </p:blipFill>
        <p:spPr>
          <a:xfrm>
            <a:off x="6343650" y="1914525"/>
            <a:ext cx="5267325" cy="3981450"/>
          </a:xfrm>
          <a:prstGeom prst="rect">
            <a:avLst/>
          </a:prstGeom>
          <a:noFill/>
          <a:ln>
            <a:noFill/>
          </a:ln>
        </p:spPr>
      </p:pic>
      <p:sp>
        <p:nvSpPr>
          <p:cNvPr id="119" name="Google Shape;119;p3"/>
          <p:cNvSpPr txBox="1"/>
          <p:nvPr/>
        </p:nvSpPr>
        <p:spPr>
          <a:xfrm>
            <a:off x="762000" y="571500"/>
            <a:ext cx="11401500" cy="4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0F172A"/>
                </a:solidFill>
                <a:latin typeface="Century"/>
                <a:ea typeface="Century"/>
                <a:cs typeface="Century"/>
                <a:sym typeface="Century"/>
              </a:rPr>
              <a:t>1.2. Tổ chức và kiến trúc máy tính</a:t>
            </a:r>
            <a:endParaRPr b="1">
              <a:latin typeface="Century"/>
              <a:ea typeface="Century"/>
              <a:cs typeface="Century"/>
              <a:sym typeface="Century"/>
            </a:endParaRPr>
          </a:p>
        </p:txBody>
      </p:sp>
      <p:sp>
        <p:nvSpPr>
          <p:cNvPr id="120" name="Google Shape;120;p3"/>
          <p:cNvSpPr/>
          <p:nvPr/>
        </p:nvSpPr>
        <p:spPr>
          <a:xfrm>
            <a:off x="571500" y="571500"/>
            <a:ext cx="57150" cy="571500"/>
          </a:xfrm>
          <a:prstGeom prst="rect">
            <a:avLst/>
          </a:prstGeom>
          <a:solidFill>
            <a:srgbClr val="2563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4" name="Shape 124"/>
        <p:cNvGrpSpPr/>
        <p:nvPr/>
      </p:nvGrpSpPr>
      <p:grpSpPr>
        <a:xfrm>
          <a:off x="0" y="0"/>
          <a:ext cx="0" cy="0"/>
          <a:chOff x="0" y="0"/>
          <a:chExt cx="0" cy="0"/>
        </a:xfrm>
      </p:grpSpPr>
      <p:sp>
        <p:nvSpPr>
          <p:cNvPr id="125" name="Google Shape;125;g3fa4bf73dea_0_272"/>
          <p:cNvSpPr txBox="1"/>
          <p:nvPr/>
        </p:nvSpPr>
        <p:spPr>
          <a:xfrm>
            <a:off x="571500" y="1749772"/>
            <a:ext cx="11049000" cy="277200"/>
          </a:xfrm>
          <a:prstGeom prst="rect">
            <a:avLst/>
          </a:prstGeom>
          <a:noFill/>
          <a:ln>
            <a:noFill/>
          </a:ln>
        </p:spPr>
        <p:txBody>
          <a:bodyPr anchorCtr="0" anchor="t" bIns="0" lIns="0" spcFirstLastPara="1" rIns="0" wrap="square" tIns="0">
            <a:spAutoFit/>
          </a:bodyPr>
          <a:lstStyle/>
          <a:p>
            <a:pPr indent="0" lvl="0" marL="0" marR="0" rtl="0" algn="ctr">
              <a:lnSpc>
                <a:spcPct val="159944"/>
              </a:lnSpc>
              <a:spcBef>
                <a:spcPts val="0"/>
              </a:spcBef>
              <a:spcAft>
                <a:spcPts val="0"/>
              </a:spcAft>
              <a:buNone/>
            </a:pPr>
            <a:r>
              <a:rPr b="0" i="0" lang="en-US" sz="1800" u="none" cap="none" strike="noStrike">
                <a:solidFill>
                  <a:srgbClr val="0D9488"/>
                </a:solidFill>
                <a:latin typeface="Inter Medium"/>
                <a:ea typeface="Inter Medium"/>
                <a:cs typeface="Inter Medium"/>
                <a:sym typeface="Inter Medium"/>
              </a:rPr>
              <a:t>Mô hình thiết kế tối ưu hóa sự đánh đổi giữa tốc độ, dung lượng và chi phí.</a:t>
            </a:r>
            <a:endParaRPr/>
          </a:p>
        </p:txBody>
      </p:sp>
      <p:sp>
        <p:nvSpPr>
          <p:cNvPr id="126" name="Google Shape;126;g3fa4bf73dea_0_272"/>
          <p:cNvSpPr txBox="1"/>
          <p:nvPr/>
        </p:nvSpPr>
        <p:spPr>
          <a:xfrm>
            <a:off x="1302573" y="3982342"/>
            <a:ext cx="2030400" cy="2541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650" u="none" cap="none" strike="noStrike">
                <a:solidFill>
                  <a:srgbClr val="0F172A"/>
                </a:solidFill>
                <a:latin typeface="Inter"/>
                <a:ea typeface="Inter"/>
                <a:cs typeface="Inter"/>
                <a:sym typeface="Inter"/>
              </a:rPr>
              <a:t>Thanh ghi &amp; Cache</a:t>
            </a:r>
            <a:endParaRPr/>
          </a:p>
        </p:txBody>
      </p:sp>
      <p:sp>
        <p:nvSpPr>
          <p:cNvPr id="127" name="Google Shape;127;g3fa4bf73dea_0_272"/>
          <p:cNvSpPr txBox="1"/>
          <p:nvPr/>
        </p:nvSpPr>
        <p:spPr>
          <a:xfrm>
            <a:off x="866775" y="4372867"/>
            <a:ext cx="2901900" cy="12051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350" u="none" cap="none" strike="noStrike">
                <a:solidFill>
                  <a:srgbClr val="334155"/>
                </a:solidFill>
                <a:latin typeface="Inter"/>
                <a:ea typeface="Inter"/>
                <a:cs typeface="Inter"/>
                <a:sym typeface="Inter"/>
              </a:rPr>
              <a:t>Gắn liền với CPU. Tốc độ truy xuất cực kỳ nhanh nhưng dung lượng cực nhỏ, chi phí thiết kế và sản xuất vô cùng đắt đỏ.</a:t>
            </a:r>
            <a:endParaRPr/>
          </a:p>
        </p:txBody>
      </p:sp>
      <p:sp>
        <p:nvSpPr>
          <p:cNvPr id="128" name="Google Shape;128;g3fa4bf73dea_0_272"/>
          <p:cNvSpPr txBox="1"/>
          <p:nvPr/>
        </p:nvSpPr>
        <p:spPr>
          <a:xfrm>
            <a:off x="5045868" y="3982342"/>
            <a:ext cx="2100300" cy="2541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650" u="none" cap="none" strike="noStrike">
                <a:solidFill>
                  <a:srgbClr val="0F172A"/>
                </a:solidFill>
                <a:latin typeface="Inter"/>
                <a:ea typeface="Inter"/>
                <a:cs typeface="Inter"/>
                <a:sym typeface="Inter"/>
              </a:rPr>
              <a:t>Bộ nhớ trong (RAM)</a:t>
            </a:r>
            <a:endParaRPr/>
          </a:p>
        </p:txBody>
      </p:sp>
      <p:sp>
        <p:nvSpPr>
          <p:cNvPr id="129" name="Google Shape;129;g3fa4bf73dea_0_272"/>
          <p:cNvSpPr txBox="1"/>
          <p:nvPr/>
        </p:nvSpPr>
        <p:spPr>
          <a:xfrm>
            <a:off x="4645074" y="4372867"/>
            <a:ext cx="2901900" cy="12051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350" u="none" cap="none" strike="noStrike">
                <a:solidFill>
                  <a:srgbClr val="334155"/>
                </a:solidFill>
                <a:latin typeface="Inter"/>
                <a:ea typeface="Inter"/>
                <a:cs typeface="Inter"/>
                <a:sym typeface="Inter"/>
              </a:rPr>
              <a:t>Bộ nhớ tạm thời (Volatile). Dung lượng vừa phải, truy xuất nhanh. Lưu trữ dữ liệu đang xử lý, mất hoàn toàn dữ liệu khi ngắt điện.</a:t>
            </a:r>
            <a:endParaRPr/>
          </a:p>
        </p:txBody>
      </p:sp>
      <p:sp>
        <p:nvSpPr>
          <p:cNvPr id="130" name="Google Shape;130;g3fa4bf73dea_0_272"/>
          <p:cNvSpPr txBox="1"/>
          <p:nvPr/>
        </p:nvSpPr>
        <p:spPr>
          <a:xfrm>
            <a:off x="8639145" y="3982342"/>
            <a:ext cx="2470200" cy="2541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650" u="none" cap="none" strike="noStrike">
                <a:solidFill>
                  <a:srgbClr val="0F172A"/>
                </a:solidFill>
                <a:latin typeface="Inter"/>
                <a:ea typeface="Inter"/>
                <a:cs typeface="Inter"/>
                <a:sym typeface="Inter"/>
              </a:rPr>
              <a:t>Bộ nhớ ngoài (Storage)</a:t>
            </a:r>
            <a:endParaRPr/>
          </a:p>
        </p:txBody>
      </p:sp>
      <p:sp>
        <p:nvSpPr>
          <p:cNvPr id="131" name="Google Shape;131;g3fa4bf73dea_0_272"/>
          <p:cNvSpPr txBox="1"/>
          <p:nvPr/>
        </p:nvSpPr>
        <p:spPr>
          <a:xfrm>
            <a:off x="8423374" y="4372867"/>
            <a:ext cx="2901900" cy="12051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350" u="none" cap="none" strike="noStrike">
                <a:solidFill>
                  <a:srgbClr val="334155"/>
                </a:solidFill>
                <a:latin typeface="Inter"/>
                <a:ea typeface="Inter"/>
                <a:cs typeface="Inter"/>
                <a:sym typeface="Inter"/>
              </a:rPr>
              <a:t>Bộ nhớ lưu trữ vĩnh viễn (Non-volatile). Dung lượng lớn, chi phí thấp, tuy nhiên tốc độ đọc ghi dữ liệu chậm hơn nhiều so với RAM.</a:t>
            </a:r>
            <a:endParaRPr/>
          </a:p>
        </p:txBody>
      </p:sp>
      <p:sp>
        <p:nvSpPr>
          <p:cNvPr id="132" name="Google Shape;132;g3fa4bf73dea_0_272"/>
          <p:cNvSpPr txBox="1"/>
          <p:nvPr/>
        </p:nvSpPr>
        <p:spPr>
          <a:xfrm>
            <a:off x="571500" y="571500"/>
            <a:ext cx="116016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0F172A"/>
                </a:solidFill>
                <a:latin typeface="Inter"/>
                <a:ea typeface="Inter"/>
                <a:cs typeface="Inter"/>
                <a:sym typeface="Inter"/>
              </a:rPr>
              <a:t>1.3. Phân cấp bộ nhớ </a:t>
            </a:r>
            <a:r>
              <a:rPr b="1" i="0" lang="en-US" sz="3600" u="none" cap="none" strike="noStrike">
                <a:solidFill>
                  <a:srgbClr val="2563EB"/>
                </a:solidFill>
                <a:latin typeface="Inter"/>
                <a:ea typeface="Inter"/>
                <a:cs typeface="Inter"/>
                <a:sym typeface="Inter"/>
              </a:rPr>
              <a:t>(Memory Hierarchy)</a:t>
            </a:r>
            <a:endParaRPr/>
          </a:p>
        </p:txBody>
      </p:sp>
      <p:pic>
        <p:nvPicPr>
          <p:cNvPr id="133" name="Google Shape;133;g3fa4bf73dea_0_272"/>
          <p:cNvPicPr preferRelativeResize="0"/>
          <p:nvPr/>
        </p:nvPicPr>
        <p:blipFill>
          <a:blip r:embed="rId3">
            <a:alphaModFix/>
          </a:blip>
          <a:stretch>
            <a:fillRect/>
          </a:stretch>
        </p:blipFill>
        <p:spPr>
          <a:xfrm>
            <a:off x="5270709" y="2179372"/>
            <a:ext cx="1650569" cy="1650569"/>
          </a:xfrm>
          <a:prstGeom prst="rect">
            <a:avLst/>
          </a:prstGeom>
          <a:noFill/>
          <a:ln>
            <a:noFill/>
          </a:ln>
        </p:spPr>
      </p:pic>
      <p:pic>
        <p:nvPicPr>
          <p:cNvPr id="134" name="Google Shape;134;g3fa4bf73dea_0_272"/>
          <p:cNvPicPr preferRelativeResize="0"/>
          <p:nvPr/>
        </p:nvPicPr>
        <p:blipFill>
          <a:blip r:embed="rId4">
            <a:alphaModFix/>
          </a:blip>
          <a:stretch>
            <a:fillRect/>
          </a:stretch>
        </p:blipFill>
        <p:spPr>
          <a:xfrm>
            <a:off x="1273153" y="2179372"/>
            <a:ext cx="2089150" cy="1650570"/>
          </a:xfrm>
          <a:prstGeom prst="rect">
            <a:avLst/>
          </a:prstGeom>
          <a:noFill/>
          <a:ln>
            <a:noFill/>
          </a:ln>
        </p:spPr>
      </p:pic>
      <p:pic>
        <p:nvPicPr>
          <p:cNvPr id="135" name="Google Shape;135;g3fa4bf73dea_0_272"/>
          <p:cNvPicPr preferRelativeResize="0"/>
          <p:nvPr/>
        </p:nvPicPr>
        <p:blipFill>
          <a:blip r:embed="rId5">
            <a:alphaModFix/>
          </a:blip>
          <a:stretch>
            <a:fillRect/>
          </a:stretch>
        </p:blipFill>
        <p:spPr>
          <a:xfrm>
            <a:off x="8592328" y="2179372"/>
            <a:ext cx="2563992" cy="165057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9" name="Shape 139"/>
        <p:cNvGrpSpPr/>
        <p:nvPr/>
      </p:nvGrpSpPr>
      <p:grpSpPr>
        <a:xfrm>
          <a:off x="0" y="0"/>
          <a:ext cx="0" cy="0"/>
          <a:chOff x="0" y="0"/>
          <a:chExt cx="0" cy="0"/>
        </a:xfrm>
      </p:grpSpPr>
      <p:sp>
        <p:nvSpPr>
          <p:cNvPr id="140" name="Google Shape;140;g3fa4bf73dea_0_293"/>
          <p:cNvSpPr txBox="1"/>
          <p:nvPr/>
        </p:nvSpPr>
        <p:spPr>
          <a:xfrm>
            <a:off x="484186" y="4555777"/>
            <a:ext cx="3667200" cy="2541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650" u="none" cap="none" strike="noStrike">
                <a:solidFill>
                  <a:srgbClr val="0D9488"/>
                </a:solidFill>
                <a:latin typeface="Inter"/>
                <a:ea typeface="Inter"/>
                <a:cs typeface="Inter"/>
                <a:sym typeface="Inter"/>
              </a:rPr>
              <a:t>Thiết bị Nhập (Input)</a:t>
            </a:r>
            <a:endParaRPr/>
          </a:p>
        </p:txBody>
      </p:sp>
      <p:sp>
        <p:nvSpPr>
          <p:cNvPr id="141" name="Google Shape;141;g3fa4bf73dea_0_293"/>
          <p:cNvSpPr txBox="1"/>
          <p:nvPr/>
        </p:nvSpPr>
        <p:spPr>
          <a:xfrm>
            <a:off x="571500" y="4946302"/>
            <a:ext cx="3492600" cy="8727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350" u="none" cap="none" strike="noStrike">
                <a:solidFill>
                  <a:srgbClr val="334155"/>
                </a:solidFill>
                <a:latin typeface="Inter"/>
                <a:ea typeface="Inter"/>
                <a:cs typeface="Inter"/>
                <a:sym typeface="Inter"/>
              </a:rPr>
              <a:t>Bàn phím, chuột, micro. Giúp chuyển đổi tín hiệu vật lý từ bên ngoài thành tín hiệu số vào máy tính.</a:t>
            </a:r>
            <a:endParaRPr/>
          </a:p>
        </p:txBody>
      </p:sp>
      <p:sp>
        <p:nvSpPr>
          <p:cNvPr id="142" name="Google Shape;142;g3fa4bf73dea_0_293"/>
          <p:cNvSpPr txBox="1"/>
          <p:nvPr/>
        </p:nvSpPr>
        <p:spPr>
          <a:xfrm>
            <a:off x="4262485" y="4555777"/>
            <a:ext cx="3667200" cy="2541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650" u="none" cap="none" strike="noStrike">
                <a:solidFill>
                  <a:srgbClr val="0D9488"/>
                </a:solidFill>
                <a:latin typeface="Inter"/>
                <a:ea typeface="Inter"/>
                <a:cs typeface="Inter"/>
                <a:sym typeface="Inter"/>
              </a:rPr>
              <a:t>Thiết bị Xuất (Output)</a:t>
            </a:r>
            <a:endParaRPr/>
          </a:p>
        </p:txBody>
      </p:sp>
      <p:sp>
        <p:nvSpPr>
          <p:cNvPr id="143" name="Google Shape;143;g3fa4bf73dea_0_293"/>
          <p:cNvSpPr txBox="1"/>
          <p:nvPr/>
        </p:nvSpPr>
        <p:spPr>
          <a:xfrm>
            <a:off x="4349799" y="4946302"/>
            <a:ext cx="3492600" cy="8727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350" u="none" cap="none" strike="noStrike">
                <a:solidFill>
                  <a:srgbClr val="334155"/>
                </a:solidFill>
                <a:latin typeface="Inter"/>
                <a:ea typeface="Inter"/>
                <a:cs typeface="Inter"/>
                <a:sym typeface="Inter"/>
              </a:rPr>
              <a:t>Màn hình, loa, máy in. Chuyển đổi dữ liệu kỹ thuật số đã qua xử lý ngược lại thành thông tin con người hiểu được.</a:t>
            </a:r>
            <a:endParaRPr/>
          </a:p>
        </p:txBody>
      </p:sp>
      <p:sp>
        <p:nvSpPr>
          <p:cNvPr id="144" name="Google Shape;144;g3fa4bf73dea_0_293"/>
          <p:cNvSpPr txBox="1"/>
          <p:nvPr/>
        </p:nvSpPr>
        <p:spPr>
          <a:xfrm>
            <a:off x="8040785" y="4555777"/>
            <a:ext cx="3667200" cy="2541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650" u="none" cap="none" strike="noStrike">
                <a:solidFill>
                  <a:srgbClr val="0D9488"/>
                </a:solidFill>
                <a:latin typeface="Inter"/>
                <a:ea typeface="Inter"/>
                <a:cs typeface="Inter"/>
                <a:sym typeface="Inter"/>
              </a:rPr>
              <a:t>Lưu trữ Ngoại vi</a:t>
            </a:r>
            <a:endParaRPr/>
          </a:p>
        </p:txBody>
      </p:sp>
      <p:sp>
        <p:nvSpPr>
          <p:cNvPr id="145" name="Google Shape;145;g3fa4bf73dea_0_293"/>
          <p:cNvSpPr txBox="1"/>
          <p:nvPr/>
        </p:nvSpPr>
        <p:spPr>
          <a:xfrm>
            <a:off x="8128099" y="4946302"/>
            <a:ext cx="3492600" cy="8727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350" u="none" cap="none" strike="noStrike">
                <a:solidFill>
                  <a:srgbClr val="334155"/>
                </a:solidFill>
                <a:latin typeface="Inter"/>
                <a:ea typeface="Inter"/>
                <a:cs typeface="Inter"/>
                <a:sym typeface="Inter"/>
              </a:rPr>
              <a:t>Ổ cứng SSD di động, USB. Giao tiếp qua các cổng I/O để sao lưu và vận chuyển dữ liệu khối lượng lớn.</a:t>
            </a:r>
            <a:endParaRPr/>
          </a:p>
        </p:txBody>
      </p:sp>
      <p:sp>
        <p:nvSpPr>
          <p:cNvPr id="146" name="Google Shape;146;g3fa4bf73dea_0_293"/>
          <p:cNvSpPr txBox="1"/>
          <p:nvPr/>
        </p:nvSpPr>
        <p:spPr>
          <a:xfrm>
            <a:off x="571500" y="571500"/>
            <a:ext cx="116016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0F172A"/>
                </a:solidFill>
                <a:latin typeface="Inter"/>
                <a:ea typeface="Inter"/>
                <a:cs typeface="Inter"/>
                <a:sym typeface="Inter"/>
              </a:rPr>
              <a:t>1.3. Thiết bị </a:t>
            </a:r>
            <a:r>
              <a:rPr b="1" i="0" lang="en-US" sz="3600" u="none" cap="none" strike="noStrike">
                <a:solidFill>
                  <a:srgbClr val="2563EB"/>
                </a:solidFill>
                <a:latin typeface="Inter"/>
                <a:ea typeface="Inter"/>
                <a:cs typeface="Inter"/>
                <a:sym typeface="Inter"/>
              </a:rPr>
              <a:t>Nhập &amp; Xuất (I/O)</a:t>
            </a:r>
            <a:endParaRPr/>
          </a:p>
        </p:txBody>
      </p:sp>
      <p:pic>
        <p:nvPicPr>
          <p:cNvPr id="147" name="Google Shape;147;g3fa4bf73dea_0_293"/>
          <p:cNvPicPr preferRelativeResize="0"/>
          <p:nvPr/>
        </p:nvPicPr>
        <p:blipFill>
          <a:blip r:embed="rId3">
            <a:alphaModFix/>
          </a:blip>
          <a:stretch>
            <a:fillRect/>
          </a:stretch>
        </p:blipFill>
        <p:spPr>
          <a:xfrm>
            <a:off x="484175" y="1960450"/>
            <a:ext cx="3043867" cy="2151000"/>
          </a:xfrm>
          <a:prstGeom prst="rect">
            <a:avLst/>
          </a:prstGeom>
          <a:noFill/>
          <a:ln>
            <a:noFill/>
          </a:ln>
        </p:spPr>
      </p:pic>
      <p:pic>
        <p:nvPicPr>
          <p:cNvPr id="148" name="Google Shape;148;g3fa4bf73dea_0_293"/>
          <p:cNvPicPr preferRelativeResize="0"/>
          <p:nvPr/>
        </p:nvPicPr>
        <p:blipFill>
          <a:blip r:embed="rId4">
            <a:alphaModFix/>
          </a:blip>
          <a:stretch>
            <a:fillRect/>
          </a:stretch>
        </p:blipFill>
        <p:spPr>
          <a:xfrm>
            <a:off x="4262474" y="2055275"/>
            <a:ext cx="3492601" cy="1961343"/>
          </a:xfrm>
          <a:prstGeom prst="rect">
            <a:avLst/>
          </a:prstGeom>
          <a:noFill/>
          <a:ln>
            <a:noFill/>
          </a:ln>
        </p:spPr>
      </p:pic>
      <p:pic>
        <p:nvPicPr>
          <p:cNvPr id="149" name="Google Shape;149;g3fa4bf73dea_0_293"/>
          <p:cNvPicPr preferRelativeResize="0"/>
          <p:nvPr/>
        </p:nvPicPr>
        <p:blipFill>
          <a:blip r:embed="rId5">
            <a:alphaModFix/>
          </a:blip>
          <a:stretch>
            <a:fillRect/>
          </a:stretch>
        </p:blipFill>
        <p:spPr>
          <a:xfrm>
            <a:off x="8861748" y="2160450"/>
            <a:ext cx="2425500" cy="22429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3" name="Shape 153"/>
        <p:cNvGrpSpPr/>
        <p:nvPr/>
      </p:nvGrpSpPr>
      <p:grpSpPr>
        <a:xfrm>
          <a:off x="0" y="0"/>
          <a:ext cx="0" cy="0"/>
          <a:chOff x="0" y="0"/>
          <a:chExt cx="0" cy="0"/>
        </a:xfrm>
      </p:grpSpPr>
      <p:sp>
        <p:nvSpPr>
          <p:cNvPr id="154" name="Google Shape;154;p5"/>
          <p:cNvSpPr txBox="1"/>
          <p:nvPr/>
        </p:nvSpPr>
        <p:spPr>
          <a:xfrm>
            <a:off x="762000" y="571500"/>
            <a:ext cx="5350800" cy="923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0F172A"/>
                </a:solidFill>
                <a:latin typeface="Century"/>
                <a:ea typeface="Century"/>
                <a:cs typeface="Century"/>
                <a:sym typeface="Century"/>
              </a:rPr>
              <a:t>1.4. Hệ đếm và biểu diễn dữ liệu trong máy tính</a:t>
            </a:r>
            <a:endParaRPr>
              <a:latin typeface="Century"/>
              <a:ea typeface="Century"/>
              <a:cs typeface="Century"/>
              <a:sym typeface="Century"/>
            </a:endParaRPr>
          </a:p>
        </p:txBody>
      </p:sp>
      <p:sp>
        <p:nvSpPr>
          <p:cNvPr id="155" name="Google Shape;155;p5"/>
          <p:cNvSpPr/>
          <p:nvPr/>
        </p:nvSpPr>
        <p:spPr>
          <a:xfrm>
            <a:off x="571500" y="571500"/>
            <a:ext cx="57150" cy="1143000"/>
          </a:xfrm>
          <a:prstGeom prst="rect">
            <a:avLst/>
          </a:prstGeom>
          <a:solidFill>
            <a:srgbClr val="2563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6" name="Google Shape;156;p5"/>
          <p:cNvSpPr txBox="1"/>
          <p:nvPr/>
        </p:nvSpPr>
        <p:spPr>
          <a:xfrm>
            <a:off x="571500" y="2571750"/>
            <a:ext cx="5550693" cy="3714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1E293B"/>
                </a:solidFill>
                <a:latin typeface="Poppins SemiBold"/>
                <a:ea typeface="Poppins SemiBold"/>
                <a:cs typeface="Poppins SemiBold"/>
                <a:sym typeface="Poppins SemiBold"/>
              </a:rPr>
              <a:t>Bản Chất Nhị Phân</a:t>
            </a:r>
            <a:endParaRPr/>
          </a:p>
        </p:txBody>
      </p:sp>
      <p:sp>
        <p:nvSpPr>
          <p:cNvPr id="157" name="Google Shape;157;p5"/>
          <p:cNvSpPr txBox="1"/>
          <p:nvPr/>
        </p:nvSpPr>
        <p:spPr>
          <a:xfrm>
            <a:off x="571500" y="3086100"/>
            <a:ext cx="5286375" cy="1295400"/>
          </a:xfrm>
          <a:prstGeom prst="rect">
            <a:avLst/>
          </a:prstGeom>
          <a:noFill/>
          <a:ln>
            <a:noFill/>
          </a:ln>
        </p:spPr>
        <p:txBody>
          <a:bodyPr anchorCtr="0" anchor="t" bIns="0" lIns="0" spcFirstLastPara="1" rIns="0" wrap="square" tIns="0">
            <a:spAutoFit/>
          </a:bodyPr>
          <a:lstStyle/>
          <a:p>
            <a:pPr indent="0" lvl="0" marL="0" marR="0" rtl="0" algn="l">
              <a:lnSpc>
                <a:spcPct val="170000"/>
              </a:lnSpc>
              <a:spcBef>
                <a:spcPts val="0"/>
              </a:spcBef>
              <a:spcAft>
                <a:spcPts val="0"/>
              </a:spcAft>
              <a:buNone/>
            </a:pPr>
            <a:r>
              <a:rPr b="0" i="0" lang="en-US" sz="1500" u="none" cap="none" strike="noStrike">
                <a:solidFill>
                  <a:srgbClr val="334155"/>
                </a:solidFill>
                <a:latin typeface="Inter"/>
                <a:ea typeface="Inter"/>
                <a:cs typeface="Inter"/>
                <a:sym typeface="Inter"/>
              </a:rPr>
              <a:t>Máy tính được cấu thành từ các bóng bán dẫn (transistor) hoạt động dưới dạng công tắc với hai trạng thái tĩnh: ngắt (0) và dẫn (1). Do đó, máy tính chỉ hiểu hệ đếm nhị phân cơ số 2.</a:t>
            </a:r>
            <a:endParaRPr/>
          </a:p>
        </p:txBody>
      </p:sp>
      <p:sp>
        <p:nvSpPr>
          <p:cNvPr id="158" name="Google Shape;158;p5"/>
          <p:cNvSpPr txBox="1"/>
          <p:nvPr/>
        </p:nvSpPr>
        <p:spPr>
          <a:xfrm>
            <a:off x="571500" y="4610100"/>
            <a:ext cx="5286375" cy="971550"/>
          </a:xfrm>
          <a:prstGeom prst="rect">
            <a:avLst/>
          </a:prstGeom>
          <a:noFill/>
          <a:ln>
            <a:noFill/>
          </a:ln>
        </p:spPr>
        <p:txBody>
          <a:bodyPr anchorCtr="0" anchor="t" bIns="0" lIns="0" spcFirstLastPara="1" rIns="0" wrap="square" tIns="0">
            <a:spAutoFit/>
          </a:bodyPr>
          <a:lstStyle/>
          <a:p>
            <a:pPr indent="0" lvl="0" marL="0" marR="0" rtl="0" algn="l">
              <a:lnSpc>
                <a:spcPct val="170000"/>
              </a:lnSpc>
              <a:spcBef>
                <a:spcPts val="0"/>
              </a:spcBef>
              <a:spcAft>
                <a:spcPts val="0"/>
              </a:spcAft>
              <a:buNone/>
            </a:pPr>
            <a:r>
              <a:rPr b="0" i="0" lang="en-US" sz="1500" u="none" cap="none" strike="noStrike">
                <a:solidFill>
                  <a:srgbClr val="334155"/>
                </a:solidFill>
                <a:latin typeface="Inter"/>
                <a:ea typeface="Inter"/>
                <a:cs typeface="Inter"/>
                <a:sym typeface="Inter"/>
              </a:rPr>
              <a:t>Mọi dạng thông tin như văn bản, hình ảnh, hay âm thanh đều phải được lượng tử hóa và mã hóa thành các chuỗi bit (0 và 1) trước khi máy tính có thể xử lý.</a:t>
            </a:r>
            <a:endParaRPr/>
          </a:p>
        </p:txBody>
      </p:sp>
      <p:pic>
        <p:nvPicPr>
          <p:cNvPr id="159" name="Google Shape;159;p5"/>
          <p:cNvPicPr preferRelativeResize="0"/>
          <p:nvPr/>
        </p:nvPicPr>
        <p:blipFill>
          <a:blip r:embed="rId3">
            <a:alphaModFix/>
          </a:blip>
          <a:stretch>
            <a:fillRect/>
          </a:stretch>
        </p:blipFill>
        <p:spPr>
          <a:xfrm>
            <a:off x="6375927" y="892100"/>
            <a:ext cx="5286375" cy="52863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3" name="Shape 163"/>
        <p:cNvGrpSpPr/>
        <p:nvPr/>
      </p:nvGrpSpPr>
      <p:grpSpPr>
        <a:xfrm>
          <a:off x="0" y="0"/>
          <a:ext cx="0" cy="0"/>
          <a:chOff x="0" y="0"/>
          <a:chExt cx="0" cy="0"/>
        </a:xfrm>
      </p:grpSpPr>
      <p:sp>
        <p:nvSpPr>
          <p:cNvPr id="164" name="Google Shape;164;p6"/>
          <p:cNvSpPr txBox="1"/>
          <p:nvPr/>
        </p:nvSpPr>
        <p:spPr>
          <a:xfrm>
            <a:off x="571500" y="1905000"/>
            <a:ext cx="5286375"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334155"/>
                </a:solidFill>
                <a:latin typeface="Inter"/>
                <a:ea typeface="Inter"/>
                <a:cs typeface="Inter"/>
                <a:sym typeface="Inter"/>
              </a:rPr>
              <a:t>Hệ điều hành (OS)</a:t>
            </a:r>
            <a:r>
              <a:rPr b="0" i="0" lang="en-US" sz="1500" u="none" cap="none" strike="noStrike">
                <a:solidFill>
                  <a:srgbClr val="334155"/>
                </a:solidFill>
                <a:latin typeface="Inter"/>
                <a:ea typeface="Inter"/>
                <a:cs typeface="Inter"/>
                <a:sym typeface="Inter"/>
              </a:rPr>
              <a:t> là phần mềm hệ thống lõi quản lý tài nguyên phần cứng và cung cấp môi trường trung gian để chạy ứng dụng (Windows, Linux, macOS).</a:t>
            </a:r>
            <a:endParaRPr/>
          </a:p>
        </p:txBody>
      </p:sp>
      <p:sp>
        <p:nvSpPr>
          <p:cNvPr id="165" name="Google Shape;165;p6"/>
          <p:cNvSpPr txBox="1"/>
          <p:nvPr/>
        </p:nvSpPr>
        <p:spPr>
          <a:xfrm>
            <a:off x="704850" y="2962275"/>
            <a:ext cx="104775"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334155"/>
                </a:solidFill>
                <a:latin typeface="Inter"/>
                <a:ea typeface="Inter"/>
                <a:cs typeface="Inter"/>
                <a:sym typeface="Inter"/>
              </a:rPr>
              <a:t>•</a:t>
            </a:r>
            <a:endParaRPr/>
          </a:p>
        </p:txBody>
      </p:sp>
      <p:sp>
        <p:nvSpPr>
          <p:cNvPr id="166" name="Google Shape;166;p6"/>
          <p:cNvSpPr txBox="1"/>
          <p:nvPr/>
        </p:nvSpPr>
        <p:spPr>
          <a:xfrm>
            <a:off x="809625" y="2962275"/>
            <a:ext cx="5048250" cy="609600"/>
          </a:xfrm>
          <a:prstGeom prst="rect">
            <a:avLst/>
          </a:prstGeom>
          <a:noFill/>
          <a:ln>
            <a:noFill/>
          </a:ln>
        </p:spPr>
        <p:txBody>
          <a:bodyPr anchorCtr="0" anchor="t" bIns="0" lIns="104775"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334155"/>
                </a:solidFill>
                <a:latin typeface="Inter"/>
                <a:ea typeface="Inter"/>
                <a:cs typeface="Inter"/>
                <a:sym typeface="Inter"/>
              </a:rPr>
              <a:t>Quản lý:</a:t>
            </a:r>
            <a:r>
              <a:rPr b="0" i="0" lang="en-US" sz="1500" u="none" cap="none" strike="noStrike">
                <a:solidFill>
                  <a:srgbClr val="334155"/>
                </a:solidFill>
                <a:latin typeface="Inter"/>
                <a:ea typeface="Inter"/>
                <a:cs typeface="Inter"/>
                <a:sym typeface="Inter"/>
              </a:rPr>
              <a:t> Điều phối bộ nhớ, tiến trình xử lý, hệ thống tập tin và bảo mật phân quyền.</a:t>
            </a:r>
            <a:endParaRPr/>
          </a:p>
        </p:txBody>
      </p:sp>
      <p:sp>
        <p:nvSpPr>
          <p:cNvPr id="167" name="Google Shape;167;p6"/>
          <p:cNvSpPr txBox="1"/>
          <p:nvPr/>
        </p:nvSpPr>
        <p:spPr>
          <a:xfrm>
            <a:off x="704850" y="3762375"/>
            <a:ext cx="104775"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334155"/>
                </a:solidFill>
                <a:latin typeface="Inter"/>
                <a:ea typeface="Inter"/>
                <a:cs typeface="Inter"/>
                <a:sym typeface="Inter"/>
              </a:rPr>
              <a:t>•</a:t>
            </a:r>
            <a:endParaRPr/>
          </a:p>
        </p:txBody>
      </p:sp>
      <p:sp>
        <p:nvSpPr>
          <p:cNvPr id="168" name="Google Shape;168;p6"/>
          <p:cNvSpPr txBox="1"/>
          <p:nvPr/>
        </p:nvSpPr>
        <p:spPr>
          <a:xfrm>
            <a:off x="809625" y="3762375"/>
            <a:ext cx="5048250" cy="609600"/>
          </a:xfrm>
          <a:prstGeom prst="rect">
            <a:avLst/>
          </a:prstGeom>
          <a:noFill/>
          <a:ln>
            <a:noFill/>
          </a:ln>
        </p:spPr>
        <p:txBody>
          <a:bodyPr anchorCtr="0" anchor="t" bIns="0" lIns="104775"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334155"/>
                </a:solidFill>
                <a:latin typeface="Inter"/>
                <a:ea typeface="Inter"/>
                <a:cs typeface="Inter"/>
                <a:sym typeface="Inter"/>
              </a:rPr>
              <a:t>Giao diện đồ họa (GUI):</a:t>
            </a:r>
            <a:r>
              <a:rPr b="0" i="0" lang="en-US" sz="1500" u="none" cap="none" strike="noStrike">
                <a:solidFill>
                  <a:srgbClr val="334155"/>
                </a:solidFill>
                <a:latin typeface="Inter"/>
                <a:ea typeface="Inter"/>
                <a:cs typeface="Inter"/>
                <a:sym typeface="Inter"/>
              </a:rPr>
              <a:t> Tương tác trực quan qua các menu, nút bấm (dễ sử dụng).</a:t>
            </a:r>
            <a:endParaRPr/>
          </a:p>
        </p:txBody>
      </p:sp>
      <p:sp>
        <p:nvSpPr>
          <p:cNvPr id="169" name="Google Shape;169;p6"/>
          <p:cNvSpPr txBox="1"/>
          <p:nvPr/>
        </p:nvSpPr>
        <p:spPr>
          <a:xfrm>
            <a:off x="704850" y="4562475"/>
            <a:ext cx="104775"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334155"/>
                </a:solidFill>
                <a:latin typeface="Inter"/>
                <a:ea typeface="Inter"/>
                <a:cs typeface="Inter"/>
                <a:sym typeface="Inter"/>
              </a:rPr>
              <a:t>•</a:t>
            </a:r>
            <a:endParaRPr/>
          </a:p>
        </p:txBody>
      </p:sp>
      <p:sp>
        <p:nvSpPr>
          <p:cNvPr id="170" name="Google Shape;170;p6"/>
          <p:cNvSpPr txBox="1"/>
          <p:nvPr/>
        </p:nvSpPr>
        <p:spPr>
          <a:xfrm>
            <a:off x="809625" y="4562475"/>
            <a:ext cx="5048250" cy="914400"/>
          </a:xfrm>
          <a:prstGeom prst="rect">
            <a:avLst/>
          </a:prstGeom>
          <a:noFill/>
          <a:ln>
            <a:noFill/>
          </a:ln>
        </p:spPr>
        <p:txBody>
          <a:bodyPr anchorCtr="0" anchor="t" bIns="0" lIns="104775"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334155"/>
                </a:solidFill>
                <a:latin typeface="Inter"/>
                <a:ea typeface="Inter"/>
                <a:cs typeface="Inter"/>
                <a:sym typeface="Inter"/>
              </a:rPr>
              <a:t>Giao diện dòng lệnh (CLI):</a:t>
            </a:r>
            <a:r>
              <a:rPr b="0" i="0" lang="en-US" sz="1500" u="none" cap="none" strike="noStrike">
                <a:solidFill>
                  <a:srgbClr val="334155"/>
                </a:solidFill>
                <a:latin typeface="Inter"/>
                <a:ea typeface="Inter"/>
                <a:cs typeface="Inter"/>
                <a:sym typeface="Inter"/>
              </a:rPr>
              <a:t> Giao tiếp với hệ thống trực tiếp qua văn bản. Tối ưu, mạnh mẽ và lý tưởng cho tự động hóa.</a:t>
            </a:r>
            <a:endParaRPr/>
          </a:p>
        </p:txBody>
      </p:sp>
      <p:sp>
        <p:nvSpPr>
          <p:cNvPr id="171" name="Google Shape;171;p6"/>
          <p:cNvSpPr txBox="1"/>
          <p:nvPr/>
        </p:nvSpPr>
        <p:spPr>
          <a:xfrm>
            <a:off x="762000" y="571500"/>
            <a:ext cx="11401500" cy="4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0F172A"/>
                </a:solidFill>
                <a:latin typeface="Century"/>
                <a:ea typeface="Century"/>
                <a:cs typeface="Century"/>
                <a:sym typeface="Century"/>
              </a:rPr>
              <a:t>1.5. Hệ điều hành và môi trường dòng lệnh</a:t>
            </a:r>
            <a:endParaRPr>
              <a:latin typeface="Century"/>
              <a:ea typeface="Century"/>
              <a:cs typeface="Century"/>
              <a:sym typeface="Century"/>
            </a:endParaRPr>
          </a:p>
        </p:txBody>
      </p:sp>
      <p:sp>
        <p:nvSpPr>
          <p:cNvPr id="172" name="Google Shape;172;p6"/>
          <p:cNvSpPr/>
          <p:nvPr/>
        </p:nvSpPr>
        <p:spPr>
          <a:xfrm>
            <a:off x="571500" y="571500"/>
            <a:ext cx="57150" cy="571500"/>
          </a:xfrm>
          <a:prstGeom prst="rect">
            <a:avLst/>
          </a:prstGeom>
          <a:solidFill>
            <a:srgbClr val="2563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173" name="Google Shape;173;p6"/>
          <p:cNvPicPr preferRelativeResize="0"/>
          <p:nvPr/>
        </p:nvPicPr>
        <p:blipFill>
          <a:blip r:embed="rId3">
            <a:alphaModFix/>
          </a:blip>
          <a:stretch>
            <a:fillRect/>
          </a:stretch>
        </p:blipFill>
        <p:spPr>
          <a:xfrm>
            <a:off x="6034950" y="2229713"/>
            <a:ext cx="4870750" cy="32471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7" name="Shape 177"/>
        <p:cNvGrpSpPr/>
        <p:nvPr/>
      </p:nvGrpSpPr>
      <p:grpSpPr>
        <a:xfrm>
          <a:off x="0" y="0"/>
          <a:ext cx="0" cy="0"/>
          <a:chOff x="0" y="0"/>
          <a:chExt cx="0" cy="0"/>
        </a:xfrm>
      </p:grpSpPr>
      <p:sp>
        <p:nvSpPr>
          <p:cNvPr id="178" name="Google Shape;178;g3fa4bf73dea_0_481"/>
          <p:cNvSpPr txBox="1"/>
          <p:nvPr/>
        </p:nvSpPr>
        <p:spPr>
          <a:xfrm>
            <a:off x="1238250" y="1866007"/>
            <a:ext cx="10382400" cy="27720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1" i="0" lang="en-US" sz="1800" u="none" cap="none" strike="noStrike">
                <a:solidFill>
                  <a:srgbClr val="2563EB"/>
                </a:solidFill>
                <a:latin typeface="Inter"/>
                <a:ea typeface="Inter"/>
                <a:cs typeface="Inter"/>
                <a:sym typeface="Inter"/>
              </a:rPr>
              <a:t>Trình biên dịch (Compiler):</a:t>
            </a:r>
            <a:endParaRPr/>
          </a:p>
        </p:txBody>
      </p:sp>
      <p:sp>
        <p:nvSpPr>
          <p:cNvPr id="179" name="Google Shape;179;g3fa4bf73dea_0_481"/>
          <p:cNvSpPr txBox="1"/>
          <p:nvPr/>
        </p:nvSpPr>
        <p:spPr>
          <a:xfrm>
            <a:off x="1238250" y="2279302"/>
            <a:ext cx="10382400" cy="600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34155"/>
                </a:solidFill>
                <a:latin typeface="Inter"/>
                <a:ea typeface="Inter"/>
                <a:cs typeface="Inter"/>
                <a:sym typeface="Inter"/>
              </a:rPr>
              <a:t>Dịch toàn bộ mã nguồn thành mã máy (Machine Code) trong một lần trước khi thực thi. Hiệu năng phần mềm sau khi dịch rất cao nhưng thời gian dịch chậm và khó gỡ lỗi hơn.</a:t>
            </a:r>
            <a:endParaRPr/>
          </a:p>
        </p:txBody>
      </p:sp>
      <p:sp>
        <p:nvSpPr>
          <p:cNvPr id="180" name="Google Shape;180;g3fa4bf73dea_0_481"/>
          <p:cNvSpPr txBox="1"/>
          <p:nvPr/>
        </p:nvSpPr>
        <p:spPr>
          <a:xfrm>
            <a:off x="1238250" y="3222277"/>
            <a:ext cx="10382400" cy="27720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1" i="0" lang="en-US" sz="1800" u="none" cap="none" strike="noStrike">
                <a:solidFill>
                  <a:srgbClr val="2563EB"/>
                </a:solidFill>
                <a:latin typeface="Inter"/>
                <a:ea typeface="Inter"/>
                <a:cs typeface="Inter"/>
                <a:sym typeface="Inter"/>
              </a:rPr>
              <a:t>Trình thông dịch (Interpreter):</a:t>
            </a:r>
            <a:endParaRPr/>
          </a:p>
        </p:txBody>
      </p:sp>
      <p:sp>
        <p:nvSpPr>
          <p:cNvPr id="181" name="Google Shape;181;g3fa4bf73dea_0_481"/>
          <p:cNvSpPr txBox="1"/>
          <p:nvPr/>
        </p:nvSpPr>
        <p:spPr>
          <a:xfrm>
            <a:off x="1238250" y="3635573"/>
            <a:ext cx="10382400" cy="600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34155"/>
                </a:solidFill>
                <a:latin typeface="Inter"/>
                <a:ea typeface="Inter"/>
                <a:cs typeface="Inter"/>
                <a:sym typeface="Inter"/>
              </a:rPr>
              <a:t>Dịch và thực thi mã nguồn từng dòng một tại thời điểm chạy phần mềm (Runtime). Tốc độ chạy chậm hơn so với Compiler nhưng việc theo dõi và gỡ lỗi (Debug) lại linh hoạt, dễ dàng hơn.</a:t>
            </a:r>
            <a:endParaRPr/>
          </a:p>
        </p:txBody>
      </p:sp>
      <p:sp>
        <p:nvSpPr>
          <p:cNvPr id="182" name="Google Shape;182;g3fa4bf73dea_0_481"/>
          <p:cNvSpPr txBox="1"/>
          <p:nvPr/>
        </p:nvSpPr>
        <p:spPr>
          <a:xfrm>
            <a:off x="1238250" y="4578548"/>
            <a:ext cx="10382400" cy="27720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1" i="0" lang="en-US" sz="1800" u="none" cap="none" strike="noStrike">
                <a:solidFill>
                  <a:srgbClr val="2563EB"/>
                </a:solidFill>
                <a:latin typeface="Inter"/>
                <a:ea typeface="Inter"/>
                <a:cs typeface="Inter"/>
                <a:sym typeface="Inter"/>
              </a:rPr>
              <a:t>Môi trường phát triển (IDE):</a:t>
            </a:r>
            <a:endParaRPr/>
          </a:p>
        </p:txBody>
      </p:sp>
      <p:sp>
        <p:nvSpPr>
          <p:cNvPr id="183" name="Google Shape;183;g3fa4bf73dea_0_481"/>
          <p:cNvSpPr txBox="1"/>
          <p:nvPr/>
        </p:nvSpPr>
        <p:spPr>
          <a:xfrm>
            <a:off x="1238250" y="4991844"/>
            <a:ext cx="10382400" cy="600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34155"/>
                </a:solidFill>
                <a:latin typeface="Inter"/>
                <a:ea typeface="Inter"/>
                <a:cs typeface="Inter"/>
                <a:sym typeface="Inter"/>
              </a:rPr>
              <a:t>Một bộ công cụ hoàn chỉnh tích hợp sẵn Trình soạn thảo (Editor), Công cụ gỡ lỗi (Debugger) và Trình dịch, giúp tối ưu hóa luồng công việc của lập trình viên (Ví dụ: Visual Studio Code, IntelliJ).</a:t>
            </a:r>
            <a:endParaRPr/>
          </a:p>
        </p:txBody>
      </p:sp>
      <p:sp>
        <p:nvSpPr>
          <p:cNvPr id="184" name="Google Shape;184;g3fa4bf73dea_0_481"/>
          <p:cNvSpPr txBox="1"/>
          <p:nvPr/>
        </p:nvSpPr>
        <p:spPr>
          <a:xfrm>
            <a:off x="571500" y="571500"/>
            <a:ext cx="116016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0F172A"/>
                </a:solidFill>
                <a:latin typeface="Inter"/>
                <a:ea typeface="Inter"/>
                <a:cs typeface="Inter"/>
                <a:sym typeface="Inter"/>
              </a:rPr>
              <a:t>1.6. Dịch thuật mã nguồn &amp; </a:t>
            </a:r>
            <a:r>
              <a:rPr b="1" i="0" lang="en-US" sz="3600" u="none" cap="none" strike="noStrike">
                <a:solidFill>
                  <a:srgbClr val="2563EB"/>
                </a:solidFill>
                <a:latin typeface="Inter"/>
                <a:ea typeface="Inter"/>
                <a:cs typeface="Inter"/>
                <a:sym typeface="Inter"/>
              </a:rPr>
              <a:t>IDE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8" name="Shape 188"/>
        <p:cNvGrpSpPr/>
        <p:nvPr/>
      </p:nvGrpSpPr>
      <p:grpSpPr>
        <a:xfrm>
          <a:off x="0" y="0"/>
          <a:ext cx="0" cy="0"/>
          <a:chOff x="0" y="0"/>
          <a:chExt cx="0" cy="0"/>
        </a:xfrm>
      </p:grpSpPr>
      <p:sp>
        <p:nvSpPr>
          <p:cNvPr id="189" name="Google Shape;189;p7"/>
          <p:cNvSpPr txBox="1"/>
          <p:nvPr/>
        </p:nvSpPr>
        <p:spPr>
          <a:xfrm>
            <a:off x="571500" y="5877817"/>
            <a:ext cx="11049000" cy="6096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1" i="0" lang="en-US" sz="1500" u="none" cap="none" strike="noStrike">
                <a:solidFill>
                  <a:srgbClr val="334155"/>
                </a:solidFill>
                <a:latin typeface="Inter"/>
                <a:ea typeface="Inter"/>
                <a:cs typeface="Inter"/>
                <a:sym typeface="Inter"/>
              </a:rPr>
              <a:t>Môi trường phát triển tích hợp (IDE):</a:t>
            </a:r>
            <a:r>
              <a:rPr b="0" i="0" lang="en-US" sz="1500" u="none" cap="none" strike="noStrike">
                <a:solidFill>
                  <a:srgbClr val="334155"/>
                </a:solidFill>
                <a:latin typeface="Inter"/>
                <a:ea typeface="Inter"/>
                <a:cs typeface="Inter"/>
                <a:sym typeface="Inter"/>
              </a:rPr>
              <a:t> Nơi gom nhóm trình soạn thảo, dịch mã và gỡ lỗi để lập trình viên làm việc thuận lợi nhất.</a:t>
            </a:r>
            <a:endParaRPr/>
          </a:p>
        </p:txBody>
      </p:sp>
      <p:graphicFrame>
        <p:nvGraphicFramePr>
          <p:cNvPr id="190" name="Google Shape;190;p7"/>
          <p:cNvGraphicFramePr/>
          <p:nvPr/>
        </p:nvGraphicFramePr>
        <p:xfrm>
          <a:off x="571500" y="1751707"/>
          <a:ext cx="3000000" cy="3000000"/>
        </p:xfrm>
        <a:graphic>
          <a:graphicData uri="http://schemas.openxmlformats.org/drawingml/2006/table">
            <a:tbl>
              <a:tblPr bandRow="1" firstRow="1">
                <a:noFill/>
                <a:tableStyleId>{CE5D20DD-A944-41E8-9F38-B803951EE7C3}</a:tableStyleId>
              </a:tblPr>
              <a:tblGrid>
                <a:gridCol w="1994300"/>
                <a:gridCol w="4773650"/>
                <a:gridCol w="4271525"/>
              </a:tblGrid>
              <a:tr h="972000">
                <a:tc>
                  <a:txBody>
                    <a:bodyPr/>
                    <a:lstStyle/>
                    <a:p>
                      <a:pPr indent="0" lvl="0" marL="0" marR="0" rtl="0" algn="l">
                        <a:spcBef>
                          <a:spcPts val="0"/>
                        </a:spcBef>
                        <a:spcAft>
                          <a:spcPts val="0"/>
                        </a:spcAft>
                        <a:buNone/>
                      </a:pPr>
                      <a:r>
                        <a:rPr b="1" i="0" lang="en-US" sz="1650" u="none" cap="none" strike="noStrike">
                          <a:solidFill>
                            <a:srgbClr val="0F172A"/>
                          </a:solidFill>
                          <a:latin typeface="Inter"/>
                          <a:ea typeface="Inter"/>
                          <a:cs typeface="Inter"/>
                          <a:sym typeface="Inter"/>
                        </a:rPr>
                        <a:t>Đặc điểm</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E2E8F0"/>
                    </a:solidFill>
                  </a:tcPr>
                </a:tc>
                <a:tc>
                  <a:txBody>
                    <a:bodyPr/>
                    <a:lstStyle/>
                    <a:p>
                      <a:pPr indent="0" lvl="0" marL="0" marR="0" rtl="0" algn="l">
                        <a:spcBef>
                          <a:spcPts val="0"/>
                        </a:spcBef>
                        <a:spcAft>
                          <a:spcPts val="0"/>
                        </a:spcAft>
                        <a:buNone/>
                      </a:pPr>
                      <a:r>
                        <a:rPr b="1" i="0" lang="en-US" sz="1650" u="none" cap="none" strike="noStrike">
                          <a:solidFill>
                            <a:srgbClr val="0F172A"/>
                          </a:solidFill>
                          <a:latin typeface="Inter"/>
                          <a:ea typeface="Inter"/>
                          <a:cs typeface="Inter"/>
                          <a:sym typeface="Inter"/>
                        </a:rPr>
                        <a:t>Trình Biên Dịch (Compiler)</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E2E8F0"/>
                    </a:solidFill>
                  </a:tcPr>
                </a:tc>
                <a:tc>
                  <a:txBody>
                    <a:bodyPr/>
                    <a:lstStyle/>
                    <a:p>
                      <a:pPr indent="0" lvl="0" marL="0" marR="0" rtl="0" algn="l">
                        <a:spcBef>
                          <a:spcPts val="0"/>
                        </a:spcBef>
                        <a:spcAft>
                          <a:spcPts val="0"/>
                        </a:spcAft>
                        <a:buNone/>
                      </a:pPr>
                      <a:r>
                        <a:rPr b="1" i="0" lang="en-US" sz="1650" u="none" cap="none" strike="noStrike">
                          <a:solidFill>
                            <a:srgbClr val="0F172A"/>
                          </a:solidFill>
                          <a:latin typeface="Inter"/>
                          <a:ea typeface="Inter"/>
                          <a:cs typeface="Inter"/>
                          <a:sym typeface="Inter"/>
                        </a:rPr>
                        <a:t>Trình Thông Dịch (Interpreter)</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E2E8F0"/>
                    </a:solidFill>
                  </a:tcPr>
                </a:tc>
              </a:tr>
              <a:tr h="972000">
                <a:tc>
                  <a:txBody>
                    <a:bodyPr/>
                    <a:lstStyle/>
                    <a:p>
                      <a:pPr indent="0" lvl="0" marL="0" marR="0" rtl="0" algn="l">
                        <a:spcBef>
                          <a:spcPts val="0"/>
                        </a:spcBef>
                        <a:spcAft>
                          <a:spcPts val="0"/>
                        </a:spcAft>
                        <a:buNone/>
                      </a:pPr>
                      <a:r>
                        <a:rPr b="1" i="0" lang="en-US" sz="1500" u="none" cap="none" strike="noStrike">
                          <a:solidFill>
                            <a:srgbClr val="334155"/>
                          </a:solidFill>
                          <a:latin typeface="Inter"/>
                          <a:ea typeface="Inter"/>
                          <a:cs typeface="Inter"/>
                          <a:sym typeface="Inter"/>
                        </a:rPr>
                        <a:t>Cơ chế hoạt động</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334155"/>
                          </a:solidFill>
                          <a:latin typeface="Inter"/>
                          <a:ea typeface="Inter"/>
                          <a:cs typeface="Inter"/>
                          <a:sym typeface="Inter"/>
                        </a:rPr>
                        <a:t>Dịch toàn bộ mã nguồn thành tệp thực thi trước khi chạy.</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334155"/>
                          </a:solidFill>
                          <a:latin typeface="Inter"/>
                          <a:ea typeface="Inter"/>
                          <a:cs typeface="Inter"/>
                          <a:sym typeface="Inter"/>
                        </a:rPr>
                        <a:t>Đọc, dịch và thực thi tuần tự từng dòng lệnh một.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972000">
                <a:tc>
                  <a:txBody>
                    <a:bodyPr/>
                    <a:lstStyle/>
                    <a:p>
                      <a:pPr indent="0" lvl="0" marL="0" marR="0" rtl="0" algn="l">
                        <a:spcBef>
                          <a:spcPts val="0"/>
                        </a:spcBef>
                        <a:spcAft>
                          <a:spcPts val="0"/>
                        </a:spcAft>
                        <a:buNone/>
                      </a:pPr>
                      <a:r>
                        <a:rPr b="1" i="0" lang="en-US" sz="1500" u="none" cap="none" strike="noStrike">
                          <a:solidFill>
                            <a:srgbClr val="334155"/>
                          </a:solidFill>
                          <a:latin typeface="Inter"/>
                          <a:ea typeface="Inter"/>
                          <a:cs typeface="Inter"/>
                          <a:sym typeface="Inter"/>
                        </a:rPr>
                        <a:t>Hiệu năng (Tốc độ)</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334155"/>
                          </a:solidFill>
                          <a:latin typeface="Inter"/>
                          <a:ea typeface="Inter"/>
                          <a:cs typeface="Inter"/>
                          <a:sym typeface="Inter"/>
                        </a:rPr>
                        <a:t>Thực thi rất nhanh do đã được tối ưu hóa sẵn.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334155"/>
                          </a:solidFill>
                          <a:latin typeface="Inter"/>
                          <a:ea typeface="Inter"/>
                          <a:cs typeface="Inter"/>
                          <a:sym typeface="Inter"/>
                        </a:rPr>
                        <a:t>Chậm hơn do phải vừa dịch vừa chạy thực tế.</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972000">
                <a:tc>
                  <a:txBody>
                    <a:bodyPr/>
                    <a:lstStyle/>
                    <a:p>
                      <a:pPr indent="0" lvl="0" marL="0" marR="0" rtl="0" algn="l">
                        <a:spcBef>
                          <a:spcPts val="0"/>
                        </a:spcBef>
                        <a:spcAft>
                          <a:spcPts val="0"/>
                        </a:spcAft>
                        <a:buNone/>
                      </a:pPr>
                      <a:r>
                        <a:rPr b="1" i="0" lang="en-US" sz="1500" u="none" cap="none" strike="noStrike">
                          <a:solidFill>
                            <a:srgbClr val="334155"/>
                          </a:solidFill>
                          <a:latin typeface="Inter"/>
                          <a:ea typeface="Inter"/>
                          <a:cs typeface="Inter"/>
                          <a:sym typeface="Inter"/>
                        </a:rPr>
                        <a:t>Phát hiện lỗi</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334155"/>
                          </a:solidFill>
                          <a:latin typeface="Inter"/>
                          <a:ea typeface="Inter"/>
                          <a:cs typeface="Inter"/>
                          <a:sym typeface="Inter"/>
                        </a:rPr>
                        <a:t>Báo toàn bộ lỗi cùng lúc sau khi quét xong chương trình.</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334155"/>
                          </a:solidFill>
                          <a:latin typeface="Inter"/>
                          <a:ea typeface="Inter"/>
                          <a:cs typeface="Inter"/>
                          <a:sym typeface="Inter"/>
                        </a:rPr>
                        <a:t>Dừng lại báo lỗi ngay tại dòng lệnh gặp sự cố.</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191" name="Google Shape;191;p7"/>
          <p:cNvSpPr/>
          <p:nvPr/>
        </p:nvSpPr>
        <p:spPr>
          <a:xfrm>
            <a:off x="576262" y="2510730"/>
            <a:ext cx="1994296" cy="9525"/>
          </a:xfrm>
          <a:prstGeom prst="rect">
            <a:avLst/>
          </a:prstGeom>
          <a:solidFill>
            <a:srgbClr val="CBD5E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2" name="Google Shape;192;p7"/>
          <p:cNvSpPr/>
          <p:nvPr/>
        </p:nvSpPr>
        <p:spPr>
          <a:xfrm>
            <a:off x="2570559" y="2510730"/>
            <a:ext cx="4773662" cy="9525"/>
          </a:xfrm>
          <a:prstGeom prst="rect">
            <a:avLst/>
          </a:prstGeom>
          <a:solidFill>
            <a:srgbClr val="CBD5E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3" name="Google Shape;193;p7"/>
          <p:cNvSpPr/>
          <p:nvPr/>
        </p:nvSpPr>
        <p:spPr>
          <a:xfrm>
            <a:off x="7344221" y="2510730"/>
            <a:ext cx="4271516" cy="9525"/>
          </a:xfrm>
          <a:prstGeom prst="rect">
            <a:avLst/>
          </a:prstGeom>
          <a:solidFill>
            <a:srgbClr val="CBD5E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4" name="Google Shape;194;p7"/>
          <p:cNvSpPr/>
          <p:nvPr/>
        </p:nvSpPr>
        <p:spPr>
          <a:xfrm>
            <a:off x="576262" y="3548955"/>
            <a:ext cx="1994296" cy="9525"/>
          </a:xfrm>
          <a:prstGeom prst="rect">
            <a:avLst/>
          </a:prstGeom>
          <a:solidFill>
            <a:srgbClr val="CBD5E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5" name="Google Shape;195;p7"/>
          <p:cNvSpPr/>
          <p:nvPr/>
        </p:nvSpPr>
        <p:spPr>
          <a:xfrm>
            <a:off x="2570559" y="3548955"/>
            <a:ext cx="4773662" cy="9525"/>
          </a:xfrm>
          <a:prstGeom prst="rect">
            <a:avLst/>
          </a:prstGeom>
          <a:solidFill>
            <a:srgbClr val="CBD5E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6" name="Google Shape;196;p7"/>
          <p:cNvSpPr/>
          <p:nvPr/>
        </p:nvSpPr>
        <p:spPr>
          <a:xfrm>
            <a:off x="7344221" y="3548955"/>
            <a:ext cx="4271516" cy="9525"/>
          </a:xfrm>
          <a:prstGeom prst="rect">
            <a:avLst/>
          </a:prstGeom>
          <a:solidFill>
            <a:srgbClr val="CBD5E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7" name="Google Shape;197;p7"/>
          <p:cNvSpPr/>
          <p:nvPr/>
        </p:nvSpPr>
        <p:spPr>
          <a:xfrm>
            <a:off x="576262" y="4587180"/>
            <a:ext cx="1994296" cy="9525"/>
          </a:xfrm>
          <a:prstGeom prst="rect">
            <a:avLst/>
          </a:prstGeom>
          <a:solidFill>
            <a:srgbClr val="CBD5E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8" name="Google Shape;198;p7"/>
          <p:cNvSpPr/>
          <p:nvPr/>
        </p:nvSpPr>
        <p:spPr>
          <a:xfrm>
            <a:off x="2570559" y="4587180"/>
            <a:ext cx="4773662" cy="9525"/>
          </a:xfrm>
          <a:prstGeom prst="rect">
            <a:avLst/>
          </a:prstGeom>
          <a:solidFill>
            <a:srgbClr val="CBD5E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9" name="Google Shape;199;p7"/>
          <p:cNvSpPr/>
          <p:nvPr/>
        </p:nvSpPr>
        <p:spPr>
          <a:xfrm>
            <a:off x="7344221" y="4587180"/>
            <a:ext cx="4271516" cy="9525"/>
          </a:xfrm>
          <a:prstGeom prst="rect">
            <a:avLst/>
          </a:prstGeom>
          <a:solidFill>
            <a:srgbClr val="CBD5E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0" name="Google Shape;200;p7"/>
          <p:cNvSpPr txBox="1"/>
          <p:nvPr/>
        </p:nvSpPr>
        <p:spPr>
          <a:xfrm>
            <a:off x="762000" y="227707"/>
            <a:ext cx="11401500" cy="923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0F172A"/>
                </a:solidFill>
                <a:latin typeface="Century"/>
                <a:ea typeface="Century"/>
                <a:cs typeface="Century"/>
                <a:sym typeface="Century"/>
              </a:rPr>
              <a:t>1.6. Trình biên dịch, trình thông dịch và môi trường phát triển phần mềm</a:t>
            </a:r>
            <a:endParaRPr>
              <a:latin typeface="Century"/>
              <a:ea typeface="Century"/>
              <a:cs typeface="Century"/>
              <a:sym typeface="Century"/>
            </a:endParaRPr>
          </a:p>
        </p:txBody>
      </p:sp>
      <p:sp>
        <p:nvSpPr>
          <p:cNvPr id="201" name="Google Shape;201;p7"/>
          <p:cNvSpPr/>
          <p:nvPr/>
        </p:nvSpPr>
        <p:spPr>
          <a:xfrm>
            <a:off x="571500" y="227707"/>
            <a:ext cx="57150" cy="1143000"/>
          </a:xfrm>
          <a:prstGeom prst="rect">
            <a:avLst/>
          </a:prstGeom>
          <a:solidFill>
            <a:srgbClr val="2563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5" name="Shape 205"/>
        <p:cNvGrpSpPr/>
        <p:nvPr/>
      </p:nvGrpSpPr>
      <p:grpSpPr>
        <a:xfrm>
          <a:off x="0" y="0"/>
          <a:ext cx="0" cy="0"/>
          <a:chOff x="0" y="0"/>
          <a:chExt cx="0" cy="0"/>
        </a:xfrm>
      </p:grpSpPr>
      <p:pic>
        <p:nvPicPr>
          <p:cNvPr descr="image.png" id="206" name="Google Shape;206;p8"/>
          <p:cNvPicPr preferRelativeResize="0"/>
          <p:nvPr/>
        </p:nvPicPr>
        <p:blipFill rotWithShape="1">
          <a:blip r:embed="rId3">
            <a:alphaModFix/>
          </a:blip>
          <a:srcRect b="0" l="0" r="0" t="0"/>
          <a:stretch/>
        </p:blipFill>
        <p:spPr>
          <a:xfrm>
            <a:off x="571500" y="1952625"/>
            <a:ext cx="3492549" cy="2095500"/>
          </a:xfrm>
          <a:prstGeom prst="rect">
            <a:avLst/>
          </a:prstGeom>
          <a:noFill/>
          <a:ln>
            <a:noFill/>
          </a:ln>
        </p:spPr>
      </p:pic>
      <p:pic>
        <p:nvPicPr>
          <p:cNvPr descr="image.png" id="207" name="Google Shape;207;p8"/>
          <p:cNvPicPr preferRelativeResize="0"/>
          <p:nvPr/>
        </p:nvPicPr>
        <p:blipFill rotWithShape="1">
          <a:blip r:embed="rId4">
            <a:alphaModFix/>
          </a:blip>
          <a:srcRect b="0" l="0" r="0" t="0"/>
          <a:stretch/>
        </p:blipFill>
        <p:spPr>
          <a:xfrm>
            <a:off x="4349799" y="1952625"/>
            <a:ext cx="3492549" cy="2095500"/>
          </a:xfrm>
          <a:prstGeom prst="rect">
            <a:avLst/>
          </a:prstGeom>
          <a:noFill/>
          <a:ln>
            <a:noFill/>
          </a:ln>
        </p:spPr>
      </p:pic>
      <p:pic>
        <p:nvPicPr>
          <p:cNvPr descr="image.png" id="208" name="Google Shape;208;p8"/>
          <p:cNvPicPr preferRelativeResize="0"/>
          <p:nvPr/>
        </p:nvPicPr>
        <p:blipFill rotWithShape="1">
          <a:blip r:embed="rId5">
            <a:alphaModFix/>
          </a:blip>
          <a:srcRect b="0" l="0" r="0" t="0"/>
          <a:stretch/>
        </p:blipFill>
        <p:spPr>
          <a:xfrm>
            <a:off x="8128099" y="1952625"/>
            <a:ext cx="3492549" cy="2095500"/>
          </a:xfrm>
          <a:prstGeom prst="rect">
            <a:avLst/>
          </a:prstGeom>
          <a:noFill/>
          <a:ln>
            <a:noFill/>
          </a:ln>
        </p:spPr>
      </p:pic>
      <p:sp>
        <p:nvSpPr>
          <p:cNvPr id="209" name="Google Shape;209;p8"/>
          <p:cNvSpPr txBox="1"/>
          <p:nvPr/>
        </p:nvSpPr>
        <p:spPr>
          <a:xfrm>
            <a:off x="484186" y="4286250"/>
            <a:ext cx="3667177" cy="3714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950" u="none" cap="none" strike="noStrike">
                <a:solidFill>
                  <a:srgbClr val="1E293B"/>
                </a:solidFill>
                <a:latin typeface="Poppins SemiBold"/>
                <a:ea typeface="Poppins SemiBold"/>
                <a:cs typeface="Poppins SemiBold"/>
                <a:sym typeface="Poppins SemiBold"/>
              </a:rPr>
              <a:t>Phần Cứng</a:t>
            </a:r>
            <a:endParaRPr/>
          </a:p>
        </p:txBody>
      </p:sp>
      <p:sp>
        <p:nvSpPr>
          <p:cNvPr id="210" name="Google Shape;210;p8"/>
          <p:cNvSpPr txBox="1"/>
          <p:nvPr/>
        </p:nvSpPr>
        <p:spPr>
          <a:xfrm>
            <a:off x="571500" y="4800600"/>
            <a:ext cx="3492549" cy="9144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500" u="none" cap="none" strike="noStrike">
                <a:solidFill>
                  <a:srgbClr val="334155"/>
                </a:solidFill>
                <a:latin typeface="Inter"/>
                <a:ea typeface="Inter"/>
                <a:cs typeface="Inter"/>
                <a:sym typeface="Inter"/>
              </a:rPr>
              <a:t>Mạng lưới linh kiện điện tử, kiến trúc vi xử lý và bộ nhớ tạo ra sức mạnh tính toán.</a:t>
            </a:r>
            <a:endParaRPr/>
          </a:p>
        </p:txBody>
      </p:sp>
      <p:sp>
        <p:nvSpPr>
          <p:cNvPr id="211" name="Google Shape;211;p8"/>
          <p:cNvSpPr txBox="1"/>
          <p:nvPr/>
        </p:nvSpPr>
        <p:spPr>
          <a:xfrm>
            <a:off x="4262485" y="4286250"/>
            <a:ext cx="3667177" cy="3714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950" u="none" cap="none" strike="noStrike">
                <a:solidFill>
                  <a:srgbClr val="1E293B"/>
                </a:solidFill>
                <a:latin typeface="Poppins SemiBold"/>
                <a:ea typeface="Poppins SemiBold"/>
                <a:cs typeface="Poppins SemiBold"/>
                <a:sym typeface="Poppins SemiBold"/>
              </a:rPr>
              <a:t>Dữ Liệu</a:t>
            </a:r>
            <a:endParaRPr/>
          </a:p>
        </p:txBody>
      </p:sp>
      <p:sp>
        <p:nvSpPr>
          <p:cNvPr id="212" name="Google Shape;212;p8"/>
          <p:cNvSpPr txBox="1"/>
          <p:nvPr/>
        </p:nvSpPr>
        <p:spPr>
          <a:xfrm>
            <a:off x="4349799" y="4800600"/>
            <a:ext cx="3492549" cy="6096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500" u="none" cap="none" strike="noStrike">
                <a:solidFill>
                  <a:srgbClr val="334155"/>
                </a:solidFill>
                <a:latin typeface="Inter"/>
                <a:ea typeface="Inter"/>
                <a:cs typeface="Inter"/>
                <a:sym typeface="Inter"/>
              </a:rPr>
              <a:t>Nguồn nguyên liệu thô đầu vào được mã hóa thành tín hiệu số để phân tích.</a:t>
            </a:r>
            <a:endParaRPr/>
          </a:p>
        </p:txBody>
      </p:sp>
      <p:sp>
        <p:nvSpPr>
          <p:cNvPr id="213" name="Google Shape;213;p8"/>
          <p:cNvSpPr txBox="1"/>
          <p:nvPr/>
        </p:nvSpPr>
        <p:spPr>
          <a:xfrm>
            <a:off x="8040785" y="4286250"/>
            <a:ext cx="3667177" cy="3714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950" u="none" cap="none" strike="noStrike">
                <a:solidFill>
                  <a:srgbClr val="1E293B"/>
                </a:solidFill>
                <a:latin typeface="Poppins SemiBold"/>
                <a:ea typeface="Poppins SemiBold"/>
                <a:cs typeface="Poppins SemiBold"/>
                <a:sym typeface="Poppins SemiBold"/>
              </a:rPr>
              <a:t>Phần Mềm</a:t>
            </a:r>
            <a:endParaRPr/>
          </a:p>
        </p:txBody>
      </p:sp>
      <p:sp>
        <p:nvSpPr>
          <p:cNvPr id="214" name="Google Shape;214;p8"/>
          <p:cNvSpPr txBox="1"/>
          <p:nvPr/>
        </p:nvSpPr>
        <p:spPr>
          <a:xfrm>
            <a:off x="8128099" y="4800600"/>
            <a:ext cx="3492549" cy="9144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500" u="none" cap="none" strike="noStrike">
                <a:solidFill>
                  <a:srgbClr val="334155"/>
                </a:solidFill>
                <a:latin typeface="Inter"/>
                <a:ea typeface="Inter"/>
                <a:cs typeface="Inter"/>
                <a:sym typeface="Inter"/>
              </a:rPr>
              <a:t>Các chương trình định hướng phần cứng thực thi giải quyết các bài toán cụ thể.</a:t>
            </a:r>
            <a:endParaRPr/>
          </a:p>
        </p:txBody>
      </p:sp>
      <p:pic>
        <p:nvPicPr>
          <p:cNvPr descr="image.png" id="215" name="Google Shape;215;p8"/>
          <p:cNvPicPr preferRelativeResize="0"/>
          <p:nvPr/>
        </p:nvPicPr>
        <p:blipFill rotWithShape="1">
          <a:blip r:embed="rId6">
            <a:alphaModFix/>
          </a:blip>
          <a:srcRect b="0" l="0" r="0" t="0"/>
          <a:stretch/>
        </p:blipFill>
        <p:spPr>
          <a:xfrm>
            <a:off x="581025" y="1962150"/>
            <a:ext cx="3473499" cy="2076450"/>
          </a:xfrm>
          <a:prstGeom prst="rect">
            <a:avLst/>
          </a:prstGeom>
          <a:noFill/>
          <a:ln>
            <a:noFill/>
          </a:ln>
        </p:spPr>
      </p:pic>
      <p:pic>
        <p:nvPicPr>
          <p:cNvPr descr="image.png" id="216" name="Google Shape;216;p8"/>
          <p:cNvPicPr preferRelativeResize="0"/>
          <p:nvPr/>
        </p:nvPicPr>
        <p:blipFill rotWithShape="1">
          <a:blip r:embed="rId7">
            <a:alphaModFix/>
          </a:blip>
          <a:srcRect b="0" l="0" r="0" t="0"/>
          <a:stretch/>
        </p:blipFill>
        <p:spPr>
          <a:xfrm>
            <a:off x="4359324" y="1962150"/>
            <a:ext cx="3473499" cy="2076450"/>
          </a:xfrm>
          <a:prstGeom prst="rect">
            <a:avLst/>
          </a:prstGeom>
          <a:noFill/>
          <a:ln>
            <a:noFill/>
          </a:ln>
        </p:spPr>
      </p:pic>
      <p:pic>
        <p:nvPicPr>
          <p:cNvPr descr="image.png" id="217" name="Google Shape;217;p8"/>
          <p:cNvPicPr preferRelativeResize="0"/>
          <p:nvPr/>
        </p:nvPicPr>
        <p:blipFill rotWithShape="1">
          <a:blip r:embed="rId8">
            <a:alphaModFix/>
          </a:blip>
          <a:srcRect b="0" l="0" r="0" t="0"/>
          <a:stretch/>
        </p:blipFill>
        <p:spPr>
          <a:xfrm>
            <a:off x="8137624" y="1962150"/>
            <a:ext cx="3473499" cy="2076450"/>
          </a:xfrm>
          <a:prstGeom prst="rect">
            <a:avLst/>
          </a:prstGeom>
          <a:noFill/>
          <a:ln>
            <a:noFill/>
          </a:ln>
        </p:spPr>
      </p:pic>
      <p:sp>
        <p:nvSpPr>
          <p:cNvPr id="218" name="Google Shape;218;p8"/>
          <p:cNvSpPr txBox="1"/>
          <p:nvPr/>
        </p:nvSpPr>
        <p:spPr>
          <a:xfrm>
            <a:off x="762000" y="571500"/>
            <a:ext cx="11401500" cy="4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0F172A"/>
                </a:solidFill>
                <a:latin typeface="Century"/>
                <a:ea typeface="Century"/>
                <a:cs typeface="Century"/>
                <a:sym typeface="Century"/>
              </a:rPr>
              <a:t>1.7. Tóm tắt</a:t>
            </a:r>
            <a:endParaRPr>
              <a:latin typeface="Century"/>
              <a:ea typeface="Century"/>
              <a:cs typeface="Century"/>
              <a:sym typeface="Century"/>
            </a:endParaRPr>
          </a:p>
        </p:txBody>
      </p:sp>
      <p:sp>
        <p:nvSpPr>
          <p:cNvPr id="219" name="Google Shape;219;p8"/>
          <p:cNvSpPr/>
          <p:nvPr/>
        </p:nvSpPr>
        <p:spPr>
          <a:xfrm>
            <a:off x="571500" y="571500"/>
            <a:ext cx="57150" cy="571500"/>
          </a:xfrm>
          <a:prstGeom prst="rect">
            <a:avLst/>
          </a:prstGeom>
          <a:solidFill>
            <a:srgbClr val="2563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cp:coreProperties>
</file>